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rimo" panose="020B0604020202020204" charset="0"/>
      <p:regular r:id="rId13"/>
    </p:embeddedFont>
    <p:embeddedFont>
      <p:font typeface="Outfit Extra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karsh sengar" userId="0574fc4858309ff9" providerId="LiveId" clId="{C28D1F3E-DC27-4E70-B6E2-14AC47422040}"/>
    <pc:docChg chg="modSld">
      <pc:chgData name="utkarsh sengar" userId="0574fc4858309ff9" providerId="LiveId" clId="{C28D1F3E-DC27-4E70-B6E2-14AC47422040}" dt="2026-09-16T09:01:37.713" v="13" actId="1076"/>
      <pc:docMkLst>
        <pc:docMk/>
      </pc:docMkLst>
      <pc:sldChg chg="addSp modSp mod">
        <pc:chgData name="utkarsh sengar" userId="0574fc4858309ff9" providerId="LiveId" clId="{C28D1F3E-DC27-4E70-B6E2-14AC47422040}" dt="2026-09-16T09:00:49.096" v="1" actId="1076"/>
        <pc:sldMkLst>
          <pc:docMk/>
          <pc:sldMk cId="0" sldId="256"/>
        </pc:sldMkLst>
        <pc:picChg chg="add mod">
          <ac:chgData name="utkarsh sengar" userId="0574fc4858309ff9" providerId="LiveId" clId="{C28D1F3E-DC27-4E70-B6E2-14AC47422040}" dt="2026-09-16T09:00:49.096" v="1" actId="1076"/>
          <ac:picMkLst>
            <pc:docMk/>
            <pc:sldMk cId="0" sldId="256"/>
            <ac:picMk id="7" creationId="{5904F843-BE38-CAF6-8A4D-F163552293C8}"/>
          </ac:picMkLst>
        </pc:picChg>
      </pc:sldChg>
      <pc:sldChg chg="addSp modSp mod">
        <pc:chgData name="utkarsh sengar" userId="0574fc4858309ff9" providerId="LiveId" clId="{C28D1F3E-DC27-4E70-B6E2-14AC47422040}" dt="2026-09-16T09:00:55.612" v="3" actId="1076"/>
        <pc:sldMkLst>
          <pc:docMk/>
          <pc:sldMk cId="0" sldId="257"/>
        </pc:sldMkLst>
        <pc:picChg chg="add mod">
          <ac:chgData name="utkarsh sengar" userId="0574fc4858309ff9" providerId="LiveId" clId="{C28D1F3E-DC27-4E70-B6E2-14AC47422040}" dt="2026-09-16T09:00:55.612" v="3" actId="1076"/>
          <ac:picMkLst>
            <pc:docMk/>
            <pc:sldMk cId="0" sldId="257"/>
            <ac:picMk id="7" creationId="{1CF30F85-2763-6248-B5B0-47B0C253D58E}"/>
          </ac:picMkLst>
        </pc:picChg>
      </pc:sldChg>
      <pc:sldChg chg="addSp modSp mod">
        <pc:chgData name="utkarsh sengar" userId="0574fc4858309ff9" providerId="LiveId" clId="{C28D1F3E-DC27-4E70-B6E2-14AC47422040}" dt="2026-09-16T09:01:03.856" v="5" actId="1076"/>
        <pc:sldMkLst>
          <pc:docMk/>
          <pc:sldMk cId="0" sldId="258"/>
        </pc:sldMkLst>
        <pc:picChg chg="add mod">
          <ac:chgData name="utkarsh sengar" userId="0574fc4858309ff9" providerId="LiveId" clId="{C28D1F3E-DC27-4E70-B6E2-14AC47422040}" dt="2026-09-16T09:01:03.856" v="5" actId="1076"/>
          <ac:picMkLst>
            <pc:docMk/>
            <pc:sldMk cId="0" sldId="258"/>
            <ac:picMk id="22" creationId="{3B2700ED-79DE-F475-C571-E01E76293BDA}"/>
          </ac:picMkLst>
        </pc:picChg>
      </pc:sldChg>
      <pc:sldChg chg="addSp modSp mod">
        <pc:chgData name="utkarsh sengar" userId="0574fc4858309ff9" providerId="LiveId" clId="{C28D1F3E-DC27-4E70-B6E2-14AC47422040}" dt="2026-09-16T09:01:12.654" v="7" actId="1076"/>
        <pc:sldMkLst>
          <pc:docMk/>
          <pc:sldMk cId="0" sldId="262"/>
        </pc:sldMkLst>
        <pc:picChg chg="add mod">
          <ac:chgData name="utkarsh sengar" userId="0574fc4858309ff9" providerId="LiveId" clId="{C28D1F3E-DC27-4E70-B6E2-14AC47422040}" dt="2026-09-16T09:01:12.654" v="7" actId="1076"/>
          <ac:picMkLst>
            <pc:docMk/>
            <pc:sldMk cId="0" sldId="262"/>
            <ac:picMk id="11" creationId="{01690A2C-00EB-5DF3-2526-5DD7E316B328}"/>
          </ac:picMkLst>
        </pc:picChg>
      </pc:sldChg>
      <pc:sldChg chg="addSp modSp mod">
        <pc:chgData name="utkarsh sengar" userId="0574fc4858309ff9" providerId="LiveId" clId="{C28D1F3E-DC27-4E70-B6E2-14AC47422040}" dt="2026-09-16T09:01:22.078" v="9" actId="1076"/>
        <pc:sldMkLst>
          <pc:docMk/>
          <pc:sldMk cId="0" sldId="263"/>
        </pc:sldMkLst>
        <pc:picChg chg="add mod">
          <ac:chgData name="utkarsh sengar" userId="0574fc4858309ff9" providerId="LiveId" clId="{C28D1F3E-DC27-4E70-B6E2-14AC47422040}" dt="2026-09-16T09:01:22.078" v="9" actId="1076"/>
          <ac:picMkLst>
            <pc:docMk/>
            <pc:sldMk cId="0" sldId="263"/>
            <ac:picMk id="18" creationId="{B2F131B8-143D-4698-7EC1-DF5A0475A2D7}"/>
          </ac:picMkLst>
        </pc:picChg>
      </pc:sldChg>
      <pc:sldChg chg="addSp modSp mod">
        <pc:chgData name="utkarsh sengar" userId="0574fc4858309ff9" providerId="LiveId" clId="{C28D1F3E-DC27-4E70-B6E2-14AC47422040}" dt="2026-09-16T09:01:30.172" v="11" actId="1076"/>
        <pc:sldMkLst>
          <pc:docMk/>
          <pc:sldMk cId="0" sldId="264"/>
        </pc:sldMkLst>
        <pc:picChg chg="add mod">
          <ac:chgData name="utkarsh sengar" userId="0574fc4858309ff9" providerId="LiveId" clId="{C28D1F3E-DC27-4E70-B6E2-14AC47422040}" dt="2026-09-16T09:01:30.172" v="11" actId="1076"/>
          <ac:picMkLst>
            <pc:docMk/>
            <pc:sldMk cId="0" sldId="264"/>
            <ac:picMk id="28" creationId="{EAEBD44B-30D2-EC00-0D99-0C329AE69132}"/>
          </ac:picMkLst>
        </pc:picChg>
      </pc:sldChg>
      <pc:sldChg chg="addSp modSp mod">
        <pc:chgData name="utkarsh sengar" userId="0574fc4858309ff9" providerId="LiveId" clId="{C28D1F3E-DC27-4E70-B6E2-14AC47422040}" dt="2026-09-16T09:01:37.713" v="13" actId="1076"/>
        <pc:sldMkLst>
          <pc:docMk/>
          <pc:sldMk cId="0" sldId="265"/>
        </pc:sldMkLst>
        <pc:picChg chg="add mod">
          <ac:chgData name="utkarsh sengar" userId="0574fc4858309ff9" providerId="LiveId" clId="{C28D1F3E-DC27-4E70-B6E2-14AC47422040}" dt="2026-09-16T09:01:37.713" v="13" actId="1076"/>
          <ac:picMkLst>
            <pc:docMk/>
            <pc:sldMk cId="0" sldId="265"/>
            <ac:picMk id="22" creationId="{87589329-9C49-0522-A6DA-AEEF29866BA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671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AFAFA">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4.png"/><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622748"/>
            <a:ext cx="6296860" cy="516731"/>
          </a:xfrm>
          <a:prstGeom prst="rect">
            <a:avLst/>
          </a:prstGeom>
          <a:noFill/>
          <a:ln/>
        </p:spPr>
        <p:txBody>
          <a:bodyPr wrap="none" lIns="0" tIns="0" rIns="0" bIns="0" rtlCol="0" anchor="t"/>
          <a:lstStyle/>
          <a:p>
            <a:pPr marL="0" indent="0" algn="l">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UPI SENTINEL</a:t>
            </a:r>
            <a:endParaRPr lang="en-US" sz="3250" dirty="0"/>
          </a:p>
        </p:txBody>
      </p:sp>
      <p:sp>
        <p:nvSpPr>
          <p:cNvPr id="4" name="Text 1"/>
          <p:cNvSpPr/>
          <p:nvPr/>
        </p:nvSpPr>
        <p:spPr>
          <a:xfrm>
            <a:off x="5233360" y="3205559"/>
            <a:ext cx="6296860"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231971"/>
                </a:solidFill>
                <a:latin typeface="Outfit ExtraBold" pitchFamily="34" charset="0"/>
                <a:ea typeface="Outfit ExtraBold" pitchFamily="34" charset="-122"/>
                <a:cs typeface="Outfit ExtraBold" pitchFamily="34" charset="-120"/>
              </a:rPr>
              <a:t>Intelligent UPI Transaction Fraud Detection &amp; Risk Analytics Platform</a:t>
            </a:r>
            <a:endParaRPr lang="en-US" sz="1600" dirty="0"/>
          </a:p>
        </p:txBody>
      </p:sp>
      <p:sp>
        <p:nvSpPr>
          <p:cNvPr id="5" name="Text 2"/>
          <p:cNvSpPr/>
          <p:nvPr/>
        </p:nvSpPr>
        <p:spPr>
          <a:xfrm>
            <a:off x="5233360" y="3970536"/>
            <a:ext cx="6906444" cy="264616"/>
          </a:xfrm>
          <a:prstGeom prst="rect">
            <a:avLst/>
          </a:prstGeom>
          <a:noFill/>
          <a:ln/>
        </p:spPr>
        <p:txBody>
          <a:bodyPr wrap="none" lIns="0" tIns="0" rIns="0" bIns="0" rtlCol="0" anchor="t"/>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 Team: DataNexus</a:t>
            </a:r>
            <a:endParaRPr lang="en-US" sz="1300" dirty="0"/>
          </a:p>
        </p:txBody>
      </p:sp>
      <p:pic>
        <p:nvPicPr>
          <p:cNvPr id="7" name="Picture 6">
            <a:extLst>
              <a:ext uri="{FF2B5EF4-FFF2-40B4-BE49-F238E27FC236}">
                <a16:creationId xmlns:a16="http://schemas.microsoft.com/office/drawing/2014/main" id="{5904F843-BE38-CAF6-8A4D-F163552293C8}"/>
              </a:ext>
            </a:extLst>
          </p:cNvPr>
          <p:cNvPicPr>
            <a:picLocks noChangeAspect="1"/>
          </p:cNvPicPr>
          <p:nvPr/>
        </p:nvPicPr>
        <p:blipFill>
          <a:blip r:embed="rId4"/>
          <a:stretch>
            <a:fillRect/>
          </a:stretch>
        </p:blipFill>
        <p:spPr>
          <a:xfrm>
            <a:off x="9571641" y="6403433"/>
            <a:ext cx="2568163" cy="3962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808361"/>
            <a:ext cx="6296860" cy="516731"/>
          </a:xfrm>
          <a:prstGeom prst="rect">
            <a:avLst/>
          </a:prstGeom>
          <a:noFill/>
          <a:ln/>
        </p:spPr>
        <p:txBody>
          <a:bodyPr wrap="none" lIns="0" tIns="0" rIns="0" bIns="0" rtlCol="0" anchor="t"/>
          <a:lstStyle/>
          <a:p>
            <a:pPr marL="0" indent="0" algn="l">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Problem Statement</a:t>
            </a:r>
            <a:endParaRPr lang="en-US" sz="3250" dirty="0"/>
          </a:p>
        </p:txBody>
      </p:sp>
      <p:sp>
        <p:nvSpPr>
          <p:cNvPr id="4" name="Text 1"/>
          <p:cNvSpPr/>
          <p:nvPr/>
        </p:nvSpPr>
        <p:spPr>
          <a:xfrm>
            <a:off x="5233360" y="2573139"/>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     Digital payments through UPI generate very large volumes of transactions. Manual monitoring cannot scale to the velocity and variety of activity, and fraud can closely resemble legitimate behavior. Investigators need automated risk identification and concise investigative context to prioritize and resolve suspicious transactions quickly.   </a:t>
            </a:r>
            <a:endParaRPr lang="en-US" sz="1300" dirty="0"/>
          </a:p>
        </p:txBody>
      </p:sp>
      <p:sp>
        <p:nvSpPr>
          <p:cNvPr id="5" name="Text 2"/>
          <p:cNvSpPr/>
          <p:nvPr/>
        </p:nvSpPr>
        <p:spPr>
          <a:xfrm>
            <a:off x="5233360" y="3817640"/>
            <a:ext cx="6296860" cy="1231999"/>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2A2742"/>
                </a:solidFill>
                <a:latin typeface="Arimo" pitchFamily="34" charset="0"/>
                <a:ea typeface="Arimo" pitchFamily="34" charset="-122"/>
                <a:cs typeface="Arimo" pitchFamily="34" charset="-120"/>
              </a:rPr>
              <a:t>Rapid growth of UPI transactions creates scale and velocity challenges</a:t>
            </a:r>
            <a:endParaRPr lang="en-US" sz="1300" dirty="0"/>
          </a:p>
          <a:p>
            <a:pPr marL="264160" indent="-264160" algn="l">
              <a:lnSpc>
                <a:spcPct val="133000"/>
              </a:lnSpc>
              <a:buSzPct val="100000"/>
              <a:buChar char="•"/>
            </a:pPr>
            <a:r>
              <a:rPr lang="en-US" sz="1300" dirty="0">
                <a:solidFill>
                  <a:srgbClr val="2A2742"/>
                </a:solidFill>
                <a:latin typeface="Arimo" pitchFamily="34" charset="0"/>
                <a:ea typeface="Arimo" pitchFamily="34" charset="-122"/>
                <a:cs typeface="Arimo" pitchFamily="34" charset="-120"/>
              </a:rPr>
              <a:t>Large volumes make manual monitoring impractical</a:t>
            </a:r>
            <a:endParaRPr lang="en-US" sz="1300" dirty="0"/>
          </a:p>
          <a:p>
            <a:pPr marL="264160" indent="-264160" algn="l">
              <a:lnSpc>
                <a:spcPct val="133000"/>
              </a:lnSpc>
              <a:buSzPct val="100000"/>
              <a:buChar char="•"/>
            </a:pPr>
            <a:r>
              <a:rPr lang="en-US" sz="1300" dirty="0">
                <a:solidFill>
                  <a:srgbClr val="2A2742"/>
                </a:solidFill>
                <a:latin typeface="Arimo" pitchFamily="34" charset="0"/>
                <a:ea typeface="Arimo" pitchFamily="34" charset="-122"/>
                <a:cs typeface="Arimo" pitchFamily="34" charset="-120"/>
              </a:rPr>
              <a:t>Fraud can mimic normal behavior — detection needs multidimensional context</a:t>
            </a:r>
            <a:endParaRPr lang="en-US" sz="1300" dirty="0"/>
          </a:p>
          <a:p>
            <a:pPr marL="264160" indent="-264160" algn="l">
              <a:lnSpc>
                <a:spcPct val="133000"/>
              </a:lnSpc>
              <a:buSzPct val="100000"/>
              <a:buChar char="•"/>
            </a:pPr>
            <a:r>
              <a:rPr lang="en-US" sz="1300" dirty="0">
                <a:solidFill>
                  <a:srgbClr val="2A2742"/>
                </a:solidFill>
                <a:latin typeface="Arimo" pitchFamily="34" charset="0"/>
                <a:ea typeface="Arimo" pitchFamily="34" charset="-122"/>
                <a:cs typeface="Arimo" pitchFamily="34" charset="-120"/>
              </a:rPr>
              <a:t>Investigators require fast, consolidated views to make decisions</a:t>
            </a:r>
            <a:endParaRPr lang="en-US" sz="1300" dirty="0"/>
          </a:p>
        </p:txBody>
      </p:sp>
      <p:pic>
        <p:nvPicPr>
          <p:cNvPr id="7" name="Picture 6">
            <a:extLst>
              <a:ext uri="{FF2B5EF4-FFF2-40B4-BE49-F238E27FC236}">
                <a16:creationId xmlns:a16="http://schemas.microsoft.com/office/drawing/2014/main" id="{1CF30F85-2763-6248-B5B0-47B0C253D58E}"/>
              </a:ext>
            </a:extLst>
          </p:cNvPr>
          <p:cNvPicPr>
            <a:picLocks noChangeAspect="1"/>
          </p:cNvPicPr>
          <p:nvPr/>
        </p:nvPicPr>
        <p:blipFill>
          <a:blip r:embed="rId4"/>
          <a:stretch>
            <a:fillRect/>
          </a:stretch>
        </p:blipFill>
        <p:spPr>
          <a:xfrm>
            <a:off x="9527041" y="6431909"/>
            <a:ext cx="2568163" cy="3962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563191"/>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Project Objectives</a:t>
            </a:r>
            <a:endParaRPr lang="en-US" sz="3250" dirty="0"/>
          </a:p>
        </p:txBody>
      </p:sp>
      <p:sp>
        <p:nvSpPr>
          <p:cNvPr id="3" name="Shape 1"/>
          <p:cNvSpPr/>
          <p:nvPr/>
        </p:nvSpPr>
        <p:spPr>
          <a:xfrm>
            <a:off x="661475" y="2410619"/>
            <a:ext cx="3512653" cy="1488678"/>
          </a:xfrm>
          <a:prstGeom prst="roundRect">
            <a:avLst>
              <a:gd name="adj" fmla="val 4666"/>
            </a:avLst>
          </a:prstGeom>
          <a:solidFill>
            <a:srgbClr val="E9E6FA"/>
          </a:solidFill>
          <a:ln w="6350">
            <a:solidFill>
              <a:srgbClr val="BDB8DF"/>
            </a:solidFill>
            <a:prstDash val="solid"/>
          </a:ln>
        </p:spPr>
        <p:txBody>
          <a:bodyPr/>
          <a:lstStyle/>
          <a:p>
            <a:endParaRPr lang="en-IN"/>
          </a:p>
        </p:txBody>
      </p:sp>
      <p:sp>
        <p:nvSpPr>
          <p:cNvPr id="4" name="Text 2"/>
          <p:cNvSpPr/>
          <p:nvPr/>
        </p:nvSpPr>
        <p:spPr>
          <a:xfrm>
            <a:off x="833119" y="2582267"/>
            <a:ext cx="316936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Detect suspicious UPI transactions</a:t>
            </a:r>
            <a:endParaRPr lang="en-US" sz="1600" dirty="0"/>
          </a:p>
        </p:txBody>
      </p:sp>
      <p:sp>
        <p:nvSpPr>
          <p:cNvPr id="5" name="Text 3"/>
          <p:cNvSpPr/>
          <p:nvPr/>
        </p:nvSpPr>
        <p:spPr>
          <a:xfrm>
            <a:off x="833119" y="3198416"/>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Automated identification of anomalous or high-risk transactions.</a:t>
            </a:r>
            <a:endParaRPr lang="en-US" sz="1300" dirty="0"/>
          </a:p>
        </p:txBody>
      </p:sp>
      <p:sp>
        <p:nvSpPr>
          <p:cNvPr id="6" name="Shape 4"/>
          <p:cNvSpPr/>
          <p:nvPr/>
        </p:nvSpPr>
        <p:spPr>
          <a:xfrm>
            <a:off x="4339422" y="2410619"/>
            <a:ext cx="3512752" cy="1488678"/>
          </a:xfrm>
          <a:prstGeom prst="roundRect">
            <a:avLst>
              <a:gd name="adj" fmla="val 4666"/>
            </a:avLst>
          </a:prstGeom>
          <a:solidFill>
            <a:srgbClr val="E9E6FA"/>
          </a:solidFill>
          <a:ln w="6350">
            <a:solidFill>
              <a:srgbClr val="BDB8DF"/>
            </a:solidFill>
            <a:prstDash val="solid"/>
          </a:ln>
        </p:spPr>
        <p:txBody>
          <a:bodyPr/>
          <a:lstStyle/>
          <a:p>
            <a:endParaRPr lang="en-IN"/>
          </a:p>
        </p:txBody>
      </p:sp>
      <p:sp>
        <p:nvSpPr>
          <p:cNvPr id="7" name="Text 5"/>
          <p:cNvSpPr/>
          <p:nvPr/>
        </p:nvSpPr>
        <p:spPr>
          <a:xfrm>
            <a:off x="4511066" y="2582267"/>
            <a:ext cx="3169464"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Analyze transaction behavior</a:t>
            </a:r>
            <a:endParaRPr lang="en-US" sz="1600" dirty="0"/>
          </a:p>
        </p:txBody>
      </p:sp>
      <p:sp>
        <p:nvSpPr>
          <p:cNvPr id="8" name="Text 6"/>
          <p:cNvSpPr/>
          <p:nvPr/>
        </p:nvSpPr>
        <p:spPr>
          <a:xfrm>
            <a:off x="4511066" y="2939951"/>
            <a:ext cx="31694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Feature-based behavioral analysis across accounts and merchants.</a:t>
            </a:r>
            <a:endParaRPr lang="en-US" sz="1300" dirty="0"/>
          </a:p>
        </p:txBody>
      </p:sp>
      <p:sp>
        <p:nvSpPr>
          <p:cNvPr id="9" name="Shape 7"/>
          <p:cNvSpPr/>
          <p:nvPr/>
        </p:nvSpPr>
        <p:spPr>
          <a:xfrm>
            <a:off x="8017468" y="2410619"/>
            <a:ext cx="3512653" cy="1488678"/>
          </a:xfrm>
          <a:prstGeom prst="roundRect">
            <a:avLst>
              <a:gd name="adj" fmla="val 4666"/>
            </a:avLst>
          </a:prstGeom>
          <a:solidFill>
            <a:srgbClr val="E9E6FA"/>
          </a:solidFill>
          <a:ln w="6350">
            <a:solidFill>
              <a:srgbClr val="BDB8DF"/>
            </a:solidFill>
            <a:prstDash val="solid"/>
          </a:ln>
        </p:spPr>
        <p:txBody>
          <a:bodyPr/>
          <a:lstStyle/>
          <a:p>
            <a:endParaRPr lang="en-IN"/>
          </a:p>
        </p:txBody>
      </p:sp>
      <p:sp>
        <p:nvSpPr>
          <p:cNvPr id="10" name="Text 8"/>
          <p:cNvSpPr/>
          <p:nvPr/>
        </p:nvSpPr>
        <p:spPr>
          <a:xfrm>
            <a:off x="8189112" y="2582267"/>
            <a:ext cx="316936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Identify high-risk users &amp; merchants</a:t>
            </a:r>
            <a:endParaRPr lang="en-US" sz="1600" dirty="0"/>
          </a:p>
        </p:txBody>
      </p:sp>
      <p:sp>
        <p:nvSpPr>
          <p:cNvPr id="11" name="Text 9"/>
          <p:cNvSpPr/>
          <p:nvPr/>
        </p:nvSpPr>
        <p:spPr>
          <a:xfrm>
            <a:off x="8189112" y="3198416"/>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Combine signals to flag risky entities for review.</a:t>
            </a:r>
            <a:endParaRPr lang="en-US" sz="1300" dirty="0"/>
          </a:p>
        </p:txBody>
      </p:sp>
      <p:sp>
        <p:nvSpPr>
          <p:cNvPr id="12" name="Shape 10"/>
          <p:cNvSpPr/>
          <p:nvPr/>
        </p:nvSpPr>
        <p:spPr>
          <a:xfrm>
            <a:off x="661475" y="4064595"/>
            <a:ext cx="3512653" cy="1230213"/>
          </a:xfrm>
          <a:prstGeom prst="roundRect">
            <a:avLst>
              <a:gd name="adj" fmla="val 5647"/>
            </a:avLst>
          </a:prstGeom>
          <a:solidFill>
            <a:srgbClr val="E9E6FA"/>
          </a:solidFill>
          <a:ln w="6350">
            <a:solidFill>
              <a:srgbClr val="BDB8DF"/>
            </a:solidFill>
            <a:prstDash val="solid"/>
          </a:ln>
        </p:spPr>
        <p:txBody>
          <a:bodyPr/>
          <a:lstStyle/>
          <a:p>
            <a:endParaRPr lang="en-IN"/>
          </a:p>
        </p:txBody>
      </p:sp>
      <p:sp>
        <p:nvSpPr>
          <p:cNvPr id="13" name="Text 11"/>
          <p:cNvSpPr/>
          <p:nvPr/>
        </p:nvSpPr>
        <p:spPr>
          <a:xfrm>
            <a:off x="833119" y="4236244"/>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Fuse multiple datasets</a:t>
            </a:r>
            <a:endParaRPr lang="en-US" sz="1600" dirty="0"/>
          </a:p>
        </p:txBody>
      </p:sp>
      <p:sp>
        <p:nvSpPr>
          <p:cNvPr id="14" name="Text 12"/>
          <p:cNvSpPr/>
          <p:nvPr/>
        </p:nvSpPr>
        <p:spPr>
          <a:xfrm>
            <a:off x="833119" y="4593927"/>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Transaction, KYC, merchant, and chargeback data used together.</a:t>
            </a:r>
            <a:endParaRPr lang="en-US" sz="1300" dirty="0"/>
          </a:p>
        </p:txBody>
      </p:sp>
      <p:sp>
        <p:nvSpPr>
          <p:cNvPr id="15" name="Shape 13"/>
          <p:cNvSpPr/>
          <p:nvPr/>
        </p:nvSpPr>
        <p:spPr>
          <a:xfrm>
            <a:off x="4339422" y="4064595"/>
            <a:ext cx="3512752" cy="1230213"/>
          </a:xfrm>
          <a:prstGeom prst="roundRect">
            <a:avLst>
              <a:gd name="adj" fmla="val 5647"/>
            </a:avLst>
          </a:prstGeom>
          <a:solidFill>
            <a:srgbClr val="E9E6FA"/>
          </a:solidFill>
          <a:ln w="6350">
            <a:solidFill>
              <a:srgbClr val="BDB8DF"/>
            </a:solidFill>
            <a:prstDash val="solid"/>
          </a:ln>
        </p:spPr>
        <p:txBody>
          <a:bodyPr/>
          <a:lstStyle/>
          <a:p>
            <a:endParaRPr lang="en-IN"/>
          </a:p>
        </p:txBody>
      </p:sp>
      <p:sp>
        <p:nvSpPr>
          <p:cNvPr id="16" name="Text 14"/>
          <p:cNvSpPr/>
          <p:nvPr/>
        </p:nvSpPr>
        <p:spPr>
          <a:xfrm>
            <a:off x="4511066" y="4236244"/>
            <a:ext cx="3169464"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Support fraud investigation</a:t>
            </a:r>
            <a:endParaRPr lang="en-US" sz="1600" dirty="0"/>
          </a:p>
        </p:txBody>
      </p:sp>
      <p:sp>
        <p:nvSpPr>
          <p:cNvPr id="17" name="Text 15"/>
          <p:cNvSpPr/>
          <p:nvPr/>
        </p:nvSpPr>
        <p:spPr>
          <a:xfrm>
            <a:off x="4511066" y="4593927"/>
            <a:ext cx="31694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Investigator workflows to examine evidence quickly.</a:t>
            </a:r>
            <a:endParaRPr lang="en-US" sz="1300" dirty="0"/>
          </a:p>
        </p:txBody>
      </p:sp>
      <p:sp>
        <p:nvSpPr>
          <p:cNvPr id="18" name="Shape 16"/>
          <p:cNvSpPr/>
          <p:nvPr/>
        </p:nvSpPr>
        <p:spPr>
          <a:xfrm>
            <a:off x="8017468" y="4064595"/>
            <a:ext cx="3512653" cy="1230213"/>
          </a:xfrm>
          <a:prstGeom prst="roundRect">
            <a:avLst>
              <a:gd name="adj" fmla="val 5647"/>
            </a:avLst>
          </a:prstGeom>
          <a:solidFill>
            <a:srgbClr val="E9E6FA"/>
          </a:solidFill>
          <a:ln w="6350">
            <a:solidFill>
              <a:srgbClr val="BDB8DF"/>
            </a:solidFill>
            <a:prstDash val="solid"/>
          </a:ln>
        </p:spPr>
        <p:txBody>
          <a:bodyPr/>
          <a:lstStyle/>
          <a:p>
            <a:endParaRPr lang="en-IN"/>
          </a:p>
        </p:txBody>
      </p:sp>
      <p:sp>
        <p:nvSpPr>
          <p:cNvPr id="19" name="Text 17"/>
          <p:cNvSpPr/>
          <p:nvPr/>
        </p:nvSpPr>
        <p:spPr>
          <a:xfrm>
            <a:off x="8189112" y="4236244"/>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Interactive analytics &amp; insights</a:t>
            </a:r>
            <a:endParaRPr lang="en-US" sz="1600" dirty="0"/>
          </a:p>
        </p:txBody>
      </p:sp>
      <p:sp>
        <p:nvSpPr>
          <p:cNvPr id="20" name="Text 18"/>
          <p:cNvSpPr/>
          <p:nvPr/>
        </p:nvSpPr>
        <p:spPr>
          <a:xfrm>
            <a:off x="8189112" y="4593927"/>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Dashboard-driven exploration and actionable risk outputs.</a:t>
            </a:r>
            <a:endParaRPr lang="en-US" sz="1300" dirty="0"/>
          </a:p>
        </p:txBody>
      </p:sp>
      <p:pic>
        <p:nvPicPr>
          <p:cNvPr id="22" name="Picture 21">
            <a:extLst>
              <a:ext uri="{FF2B5EF4-FFF2-40B4-BE49-F238E27FC236}">
                <a16:creationId xmlns:a16="http://schemas.microsoft.com/office/drawing/2014/main" id="{3B2700ED-79DE-F475-C571-E01E76293BDA}"/>
              </a:ext>
            </a:extLst>
          </p:cNvPr>
          <p:cNvPicPr>
            <a:picLocks noChangeAspect="1"/>
          </p:cNvPicPr>
          <p:nvPr/>
        </p:nvPicPr>
        <p:blipFill>
          <a:blip r:embed="rId3"/>
          <a:stretch>
            <a:fillRect/>
          </a:stretch>
        </p:blipFill>
        <p:spPr>
          <a:xfrm>
            <a:off x="9623837" y="6461726"/>
            <a:ext cx="2568163" cy="3962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648196"/>
            <a:ext cx="6296860" cy="411857"/>
          </a:xfrm>
          <a:prstGeom prst="rect">
            <a:avLst/>
          </a:prstGeom>
          <a:noFill/>
          <a:ln/>
        </p:spPr>
        <p:txBody>
          <a:bodyPr wrap="none" lIns="0" tIns="0" rIns="0" bIns="0" rtlCol="0" anchor="t"/>
          <a:lstStyle/>
          <a:p>
            <a:pPr marL="0" indent="0" algn="l">
              <a:lnSpc>
                <a:spcPct val="104000"/>
              </a:lnSpc>
              <a:buNone/>
            </a:pPr>
            <a:r>
              <a:rPr lang="en-US" sz="2550" dirty="0">
                <a:solidFill>
                  <a:srgbClr val="231971"/>
                </a:solidFill>
                <a:latin typeface="Outfit ExtraBold" pitchFamily="34" charset="0"/>
                <a:ea typeface="Outfit ExtraBold" pitchFamily="34" charset="-122"/>
                <a:cs typeface="Outfit ExtraBold" pitchFamily="34" charset="-120"/>
              </a:rPr>
              <a:t>Datasets — Inputs to the Pipeline</a:t>
            </a:r>
            <a:endParaRPr lang="en-US" sz="25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1217513"/>
            <a:ext cx="329398" cy="329406"/>
          </a:xfrm>
          <a:prstGeom prst="rect">
            <a:avLst/>
          </a:prstGeom>
        </p:spPr>
      </p:pic>
      <p:sp>
        <p:nvSpPr>
          <p:cNvPr id="5" name="Text 1"/>
          <p:cNvSpPr/>
          <p:nvPr/>
        </p:nvSpPr>
        <p:spPr>
          <a:xfrm>
            <a:off x="661475" y="1678186"/>
            <a:ext cx="6296860" cy="205879"/>
          </a:xfrm>
          <a:prstGeom prst="rect">
            <a:avLst/>
          </a:prstGeom>
          <a:noFill/>
          <a:ln/>
        </p:spPr>
        <p:txBody>
          <a:bodyPr wrap="none" lIns="0" tIns="0" rIns="0" bIns="0" rtlCol="0" anchor="t"/>
          <a:lstStyle/>
          <a:p>
            <a:pPr marL="0" indent="0" algn="l">
              <a:lnSpc>
                <a:spcPct val="104000"/>
              </a:lnSpc>
              <a:buNone/>
            </a:pPr>
            <a:r>
              <a:rPr lang="en-US" sz="1250" dirty="0">
                <a:solidFill>
                  <a:srgbClr val="2A2742"/>
                </a:solidFill>
                <a:latin typeface="Outfit ExtraBold" pitchFamily="34" charset="0"/>
                <a:ea typeface="Outfit ExtraBold" pitchFamily="34" charset="-122"/>
                <a:cs typeface="Outfit ExtraBold" pitchFamily="34" charset="-120"/>
              </a:rPr>
              <a:t>UPI Transactions</a:t>
            </a:r>
            <a:endParaRPr lang="en-US" sz="1250" dirty="0"/>
          </a:p>
        </p:txBody>
      </p:sp>
      <p:sp>
        <p:nvSpPr>
          <p:cNvPr id="6" name="Text 2"/>
          <p:cNvSpPr/>
          <p:nvPr/>
        </p:nvSpPr>
        <p:spPr>
          <a:xfrm>
            <a:off x="661475" y="1947069"/>
            <a:ext cx="6296860" cy="378817"/>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2A2742"/>
                </a:solidFill>
                <a:latin typeface="Arimo" pitchFamily="34" charset="0"/>
                <a:ea typeface="Arimo" pitchFamily="34" charset="-122"/>
                <a:cs typeface="Arimo" pitchFamily="34" charset="-120"/>
              </a:rPr>
              <a:t>Primary event stream of payments used for behavioral and pattern analysis. Source file: track1_upi_transactions.csv</a:t>
            </a:r>
            <a:endParaRPr lang="en-US" sz="10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2535932"/>
            <a:ext cx="329398" cy="329406"/>
          </a:xfrm>
          <a:prstGeom prst="rect">
            <a:avLst/>
          </a:prstGeom>
        </p:spPr>
      </p:pic>
      <p:sp>
        <p:nvSpPr>
          <p:cNvPr id="8" name="Text 3"/>
          <p:cNvSpPr/>
          <p:nvPr/>
        </p:nvSpPr>
        <p:spPr>
          <a:xfrm>
            <a:off x="661475" y="2996605"/>
            <a:ext cx="6296860" cy="205879"/>
          </a:xfrm>
          <a:prstGeom prst="rect">
            <a:avLst/>
          </a:prstGeom>
          <a:noFill/>
          <a:ln/>
        </p:spPr>
        <p:txBody>
          <a:bodyPr wrap="none" lIns="0" tIns="0" rIns="0" bIns="0" rtlCol="0" anchor="t"/>
          <a:lstStyle/>
          <a:p>
            <a:pPr marL="0" indent="0" algn="l">
              <a:lnSpc>
                <a:spcPct val="104000"/>
              </a:lnSpc>
              <a:buNone/>
            </a:pPr>
            <a:r>
              <a:rPr lang="en-US" sz="1250" dirty="0">
                <a:solidFill>
                  <a:srgbClr val="2A2742"/>
                </a:solidFill>
                <a:latin typeface="Outfit ExtraBold" pitchFamily="34" charset="0"/>
                <a:ea typeface="Outfit ExtraBold" pitchFamily="34" charset="-122"/>
                <a:cs typeface="Outfit ExtraBold" pitchFamily="34" charset="-120"/>
              </a:rPr>
              <a:t>Merchant Master</a:t>
            </a:r>
            <a:endParaRPr lang="en-US" sz="1250" dirty="0"/>
          </a:p>
        </p:txBody>
      </p:sp>
      <p:sp>
        <p:nvSpPr>
          <p:cNvPr id="9" name="Text 4"/>
          <p:cNvSpPr/>
          <p:nvPr/>
        </p:nvSpPr>
        <p:spPr>
          <a:xfrm>
            <a:off x="661475" y="3265488"/>
            <a:ext cx="6296860" cy="189409"/>
          </a:xfrm>
          <a:prstGeom prst="rect">
            <a:avLst/>
          </a:prstGeom>
          <a:noFill/>
          <a:ln/>
        </p:spPr>
        <p:txBody>
          <a:bodyPr wrap="none" lIns="0" tIns="0" rIns="0" bIns="0" rtlCol="0" anchor="t"/>
          <a:lstStyle/>
          <a:p>
            <a:pPr marL="0" indent="0" algn="l">
              <a:lnSpc>
                <a:spcPct val="120000"/>
              </a:lnSpc>
              <a:buNone/>
            </a:pPr>
            <a:r>
              <a:rPr lang="en-US" sz="1000" dirty="0">
                <a:solidFill>
                  <a:srgbClr val="2A2742"/>
                </a:solidFill>
                <a:latin typeface="Arimo" pitchFamily="34" charset="0"/>
                <a:ea typeface="Arimo" pitchFamily="34" charset="-122"/>
                <a:cs typeface="Arimo" pitchFamily="34" charset="-120"/>
              </a:rPr>
              <a:t>Merchant identity and attributes to contextualize transactions. Source file: track1_merchants_master.csv</a:t>
            </a:r>
            <a:endParaRPr lang="en-US" sz="10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664942"/>
            <a:ext cx="329398" cy="329406"/>
          </a:xfrm>
          <a:prstGeom prst="rect">
            <a:avLst/>
          </a:prstGeom>
        </p:spPr>
      </p:pic>
      <p:sp>
        <p:nvSpPr>
          <p:cNvPr id="11" name="Text 5"/>
          <p:cNvSpPr/>
          <p:nvPr/>
        </p:nvSpPr>
        <p:spPr>
          <a:xfrm>
            <a:off x="661475" y="4125615"/>
            <a:ext cx="6296860" cy="205879"/>
          </a:xfrm>
          <a:prstGeom prst="rect">
            <a:avLst/>
          </a:prstGeom>
          <a:noFill/>
          <a:ln/>
        </p:spPr>
        <p:txBody>
          <a:bodyPr wrap="none" lIns="0" tIns="0" rIns="0" bIns="0" rtlCol="0" anchor="t"/>
          <a:lstStyle/>
          <a:p>
            <a:pPr marL="0" indent="0" algn="l">
              <a:lnSpc>
                <a:spcPct val="104000"/>
              </a:lnSpc>
              <a:buNone/>
            </a:pPr>
            <a:r>
              <a:rPr lang="en-US" sz="1250" dirty="0">
                <a:solidFill>
                  <a:srgbClr val="2A2742"/>
                </a:solidFill>
                <a:latin typeface="Outfit ExtraBold" pitchFamily="34" charset="0"/>
                <a:ea typeface="Outfit ExtraBold" pitchFamily="34" charset="-122"/>
                <a:cs typeface="Outfit ExtraBold" pitchFamily="34" charset="-120"/>
              </a:rPr>
              <a:t>KYC Records</a:t>
            </a:r>
            <a:endParaRPr lang="en-US" sz="1250" dirty="0"/>
          </a:p>
        </p:txBody>
      </p:sp>
      <p:sp>
        <p:nvSpPr>
          <p:cNvPr id="12" name="Text 6"/>
          <p:cNvSpPr/>
          <p:nvPr/>
        </p:nvSpPr>
        <p:spPr>
          <a:xfrm>
            <a:off x="661475" y="4394498"/>
            <a:ext cx="6296860" cy="189409"/>
          </a:xfrm>
          <a:prstGeom prst="rect">
            <a:avLst/>
          </a:prstGeom>
          <a:noFill/>
          <a:ln/>
        </p:spPr>
        <p:txBody>
          <a:bodyPr wrap="none" lIns="0" tIns="0" rIns="0" bIns="0" rtlCol="0" anchor="t"/>
          <a:lstStyle/>
          <a:p>
            <a:pPr marL="0" indent="0" algn="l">
              <a:lnSpc>
                <a:spcPct val="120000"/>
              </a:lnSpc>
              <a:buNone/>
            </a:pPr>
            <a:r>
              <a:rPr lang="en-US" sz="1000" dirty="0">
                <a:solidFill>
                  <a:srgbClr val="2A2742"/>
                </a:solidFill>
                <a:latin typeface="Arimo" pitchFamily="34" charset="0"/>
                <a:ea typeface="Arimo" pitchFamily="34" charset="-122"/>
                <a:cs typeface="Arimo" pitchFamily="34" charset="-120"/>
              </a:rPr>
              <a:t>User identity and verification details to link behavior to verified profiles. Source file: track1_kyc_records.csv</a:t>
            </a:r>
            <a:endParaRPr lang="en-US" sz="10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4793952"/>
            <a:ext cx="329398" cy="329406"/>
          </a:xfrm>
          <a:prstGeom prst="rect">
            <a:avLst/>
          </a:prstGeom>
        </p:spPr>
      </p:pic>
      <p:sp>
        <p:nvSpPr>
          <p:cNvPr id="14" name="Text 7"/>
          <p:cNvSpPr/>
          <p:nvPr/>
        </p:nvSpPr>
        <p:spPr>
          <a:xfrm>
            <a:off x="661475" y="5254625"/>
            <a:ext cx="6296860" cy="205879"/>
          </a:xfrm>
          <a:prstGeom prst="rect">
            <a:avLst/>
          </a:prstGeom>
          <a:noFill/>
          <a:ln/>
        </p:spPr>
        <p:txBody>
          <a:bodyPr wrap="none" lIns="0" tIns="0" rIns="0" bIns="0" rtlCol="0" anchor="t"/>
          <a:lstStyle/>
          <a:p>
            <a:pPr marL="0" indent="0" algn="l">
              <a:lnSpc>
                <a:spcPct val="104000"/>
              </a:lnSpc>
              <a:buNone/>
            </a:pPr>
            <a:r>
              <a:rPr lang="en-US" sz="1250" dirty="0">
                <a:solidFill>
                  <a:srgbClr val="2A2742"/>
                </a:solidFill>
                <a:latin typeface="Outfit ExtraBold" pitchFamily="34" charset="0"/>
                <a:ea typeface="Outfit ExtraBold" pitchFamily="34" charset="-122"/>
                <a:cs typeface="Outfit ExtraBold" pitchFamily="34" charset="-120"/>
              </a:rPr>
              <a:t>Chargeback Records</a:t>
            </a:r>
            <a:endParaRPr lang="en-US" sz="1250" dirty="0"/>
          </a:p>
        </p:txBody>
      </p:sp>
      <p:sp>
        <p:nvSpPr>
          <p:cNvPr id="15" name="Text 8"/>
          <p:cNvSpPr/>
          <p:nvPr/>
        </p:nvSpPr>
        <p:spPr>
          <a:xfrm>
            <a:off x="661475" y="5523508"/>
            <a:ext cx="6296860" cy="378817"/>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2A2742"/>
                </a:solidFill>
                <a:latin typeface="Arimo" pitchFamily="34" charset="0"/>
                <a:ea typeface="Arimo" pitchFamily="34" charset="-122"/>
                <a:cs typeface="Arimo" pitchFamily="34" charset="-120"/>
              </a:rPr>
              <a:t>Historical disputes and confirmed fraud signals used as labels and investigative evidence. Source file: track1_chargebacks.json</a:t>
            </a:r>
            <a:endParaRPr lang="en-US" sz="1000" dirty="0"/>
          </a:p>
        </p:txBody>
      </p:sp>
      <p:sp>
        <p:nvSpPr>
          <p:cNvPr id="16" name="Text 9"/>
          <p:cNvSpPr/>
          <p:nvPr/>
        </p:nvSpPr>
        <p:spPr>
          <a:xfrm>
            <a:off x="661475" y="6020395"/>
            <a:ext cx="6906444" cy="189409"/>
          </a:xfrm>
          <a:prstGeom prst="rect">
            <a:avLst/>
          </a:prstGeom>
          <a:noFill/>
          <a:ln/>
        </p:spPr>
        <p:txBody>
          <a:bodyPr wrap="none" lIns="0" tIns="0" rIns="0" bIns="0" rtlCol="0" anchor="t"/>
          <a:lstStyle/>
          <a:p>
            <a:pPr marL="0" indent="0" algn="l">
              <a:lnSpc>
                <a:spcPct val="120000"/>
              </a:lnSpc>
              <a:buNone/>
            </a:pPr>
            <a:r>
              <a:rPr lang="en-US" sz="1000" dirty="0">
                <a:solidFill>
                  <a:srgbClr val="2A2742"/>
                </a:solidFill>
                <a:latin typeface="Arimo" pitchFamily="34" charset="0"/>
                <a:ea typeface="Arimo" pitchFamily="34" charset="-122"/>
                <a:cs typeface="Arimo" pitchFamily="34" charset="-120"/>
              </a:rPr>
              <a:t> These sources are joined and validated during preprocessing to create enriched features for risk analysis.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85874"/>
            <a:ext cx="10868745" cy="500658"/>
          </a:xfrm>
          <a:prstGeom prst="rect">
            <a:avLst/>
          </a:prstGeom>
          <a:noFill/>
          <a:ln/>
        </p:spPr>
        <p:txBody>
          <a:bodyPr wrap="none" lIns="0" tIns="0" rIns="0" bIns="0" rtlCol="0" anchor="t"/>
          <a:lstStyle/>
          <a:p>
            <a:pPr marL="0" indent="0" algn="l">
              <a:lnSpc>
                <a:spcPct val="104000"/>
              </a:lnSpc>
              <a:buNone/>
            </a:pPr>
            <a:r>
              <a:rPr lang="en-US" sz="3150" dirty="0">
                <a:solidFill>
                  <a:srgbClr val="231971"/>
                </a:solidFill>
                <a:latin typeface="Outfit ExtraBold" pitchFamily="34" charset="0"/>
                <a:ea typeface="Outfit ExtraBold" pitchFamily="34" charset="-122"/>
                <a:cs typeface="Outfit ExtraBold" pitchFamily="34" charset="-120"/>
              </a:rPr>
              <a:t>System Architecture — End to End</a:t>
            </a:r>
            <a:endParaRPr lang="en-US" sz="3150" dirty="0"/>
          </a:p>
        </p:txBody>
      </p:sp>
      <p:pic>
        <p:nvPicPr>
          <p:cNvPr id="3" name="Image 0" descr="preencoded.png"/>
          <p:cNvPicPr>
            <a:picLocks noChangeAspect="1"/>
          </p:cNvPicPr>
          <p:nvPr/>
        </p:nvPicPr>
        <p:blipFill>
          <a:blip r:embed="rId3"/>
          <a:stretch>
            <a:fillRect/>
          </a:stretch>
        </p:blipFill>
        <p:spPr>
          <a:xfrm>
            <a:off x="706221" y="1296888"/>
            <a:ext cx="10779153" cy="4648299"/>
          </a:xfrm>
          <a:prstGeom prst="rect">
            <a:avLst/>
          </a:prstGeom>
        </p:spPr>
      </p:pic>
      <p:sp>
        <p:nvSpPr>
          <p:cNvPr id="4" name="Text 1"/>
          <p:cNvSpPr/>
          <p:nvPr/>
        </p:nvSpPr>
        <p:spPr>
          <a:xfrm>
            <a:off x="1431583" y="5063696"/>
            <a:ext cx="2889657" cy="305684"/>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Outfit ExtraBold" pitchFamily="34" charset="0"/>
                <a:ea typeface="Outfit ExtraBold" pitchFamily="34" charset="-122"/>
                <a:cs typeface="Outfit ExtraBold" pitchFamily="34" charset="-120"/>
              </a:rPr>
              <a:t>Detection &amp; Investigation</a:t>
            </a:r>
            <a:endParaRPr lang="en-US" sz="1900" dirty="0"/>
          </a:p>
        </p:txBody>
      </p:sp>
      <p:sp>
        <p:nvSpPr>
          <p:cNvPr id="5" name="Text 2"/>
          <p:cNvSpPr/>
          <p:nvPr/>
        </p:nvSpPr>
        <p:spPr>
          <a:xfrm>
            <a:off x="1431583" y="3987690"/>
            <a:ext cx="2445408" cy="305684"/>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Outfit ExtraBold" pitchFamily="34" charset="0"/>
                <a:ea typeface="Outfit ExtraBold" pitchFamily="34" charset="-122"/>
                <a:cs typeface="Outfit ExtraBold" pitchFamily="34" charset="-120"/>
              </a:rPr>
              <a:t>Feature Engineering</a:t>
            </a:r>
            <a:endParaRPr lang="en-US" sz="1900" dirty="0"/>
          </a:p>
        </p:txBody>
      </p:sp>
      <p:sp>
        <p:nvSpPr>
          <p:cNvPr id="6" name="Text 3"/>
          <p:cNvSpPr/>
          <p:nvPr/>
        </p:nvSpPr>
        <p:spPr>
          <a:xfrm>
            <a:off x="1431583" y="2922552"/>
            <a:ext cx="2453049" cy="305683"/>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Outfit ExtraBold" pitchFamily="34" charset="0"/>
                <a:ea typeface="Outfit ExtraBold" pitchFamily="34" charset="-122"/>
                <a:cs typeface="Outfit ExtraBold" pitchFamily="34" charset="-120"/>
              </a:rPr>
              <a:t>Cleaning &amp; Validation</a:t>
            </a:r>
            <a:endParaRPr lang="en-US" sz="1900" dirty="0"/>
          </a:p>
        </p:txBody>
      </p:sp>
      <p:sp>
        <p:nvSpPr>
          <p:cNvPr id="7" name="Text 4"/>
          <p:cNvSpPr/>
          <p:nvPr/>
        </p:nvSpPr>
        <p:spPr>
          <a:xfrm>
            <a:off x="1431583" y="1846546"/>
            <a:ext cx="2445408" cy="305683"/>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Outfit ExtraBold" pitchFamily="34" charset="0"/>
                <a:ea typeface="Outfit ExtraBold" pitchFamily="34" charset="-122"/>
                <a:cs typeface="Outfit ExtraBold" pitchFamily="34" charset="-120"/>
              </a:rPr>
              <a:t>Data Ingestion</a:t>
            </a:r>
            <a:endParaRPr lang="en-US" sz="1900" dirty="0"/>
          </a:p>
        </p:txBody>
      </p:sp>
      <p:sp>
        <p:nvSpPr>
          <p:cNvPr id="8" name="Text 5"/>
          <p:cNvSpPr/>
          <p:nvPr/>
        </p:nvSpPr>
        <p:spPr>
          <a:xfrm>
            <a:off x="661475" y="6119713"/>
            <a:ext cx="11478330" cy="252313"/>
          </a:xfrm>
          <a:prstGeom prst="rect">
            <a:avLst/>
          </a:prstGeom>
          <a:noFill/>
          <a:ln/>
        </p:spPr>
        <p:txBody>
          <a:bodyPr wrap="none" lIns="0" tIns="0" rIns="0" bIns="0" rtlCol="0" anchor="t"/>
          <a:lstStyle/>
          <a:p>
            <a:pPr marL="0" indent="0" algn="l">
              <a:lnSpc>
                <a:spcPct val="131000"/>
              </a:lnSpc>
              <a:buNone/>
            </a:pPr>
            <a:r>
              <a:rPr lang="en-US" sz="1250" dirty="0">
                <a:solidFill>
                  <a:srgbClr val="2A2742"/>
                </a:solidFill>
                <a:latin typeface="Arimo" pitchFamily="34" charset="0"/>
                <a:ea typeface="Arimo" pitchFamily="34" charset="-122"/>
                <a:cs typeface="Arimo" pitchFamily="34" charset="-120"/>
              </a:rPr>
              <a:t> Clear, modular stages allow repeatable preprocessing, explainable feature pipelines, and a separation between detection and human-led investigation.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05123"/>
            <a:ext cx="6296860" cy="444103"/>
          </a:xfrm>
          <a:prstGeom prst="rect">
            <a:avLst/>
          </a:prstGeom>
          <a:noFill/>
          <a:ln/>
        </p:spPr>
        <p:txBody>
          <a:bodyPr wrap="none" lIns="0" tIns="0" rIns="0" bIns="0" rtlCol="0" anchor="t"/>
          <a:lstStyle/>
          <a:p>
            <a:pPr marL="0" indent="0" algn="l">
              <a:lnSpc>
                <a:spcPct val="104000"/>
              </a:lnSpc>
              <a:buNone/>
            </a:pPr>
            <a:r>
              <a:rPr lang="en-US" sz="2750" dirty="0">
                <a:solidFill>
                  <a:srgbClr val="231971"/>
                </a:solidFill>
                <a:latin typeface="Outfit ExtraBold" pitchFamily="34" charset="0"/>
                <a:ea typeface="Outfit ExtraBold" pitchFamily="34" charset="-122"/>
                <a:cs typeface="Outfit ExtraBold" pitchFamily="34" charset="-120"/>
              </a:rPr>
              <a:t>Machine Learning &amp; Risk Detection</a:t>
            </a:r>
            <a:endParaRPr lang="en-US" sz="2750" dirty="0"/>
          </a:p>
        </p:txBody>
      </p:sp>
      <p:sp>
        <p:nvSpPr>
          <p:cNvPr id="4" name="Text 1"/>
          <p:cNvSpPr/>
          <p:nvPr/>
        </p:nvSpPr>
        <p:spPr>
          <a:xfrm>
            <a:off x="661475" y="1132384"/>
            <a:ext cx="284255" cy="177602"/>
          </a:xfrm>
          <a:prstGeom prst="rect">
            <a:avLst/>
          </a:prstGeom>
          <a:noFill/>
          <a:ln/>
        </p:spPr>
        <p:txBody>
          <a:bodyPr wrap="none" lIns="0" tIns="0" rIns="0" bIns="0" rtlCol="0" anchor="ctr"/>
          <a:lstStyle/>
          <a:p>
            <a:pPr marL="0" indent="0" algn="l">
              <a:lnSpc>
                <a:spcPct val="100000"/>
              </a:lnSpc>
              <a:buNone/>
            </a:pPr>
            <a:r>
              <a:rPr lang="en-US" sz="1100" dirty="0">
                <a:solidFill>
                  <a:srgbClr val="2A2742"/>
                </a:solidFill>
                <a:latin typeface="Outfit Light" pitchFamily="34" charset="0"/>
                <a:ea typeface="Outfit Light" pitchFamily="34" charset="-122"/>
                <a:cs typeface="Outfit Light" pitchFamily="34" charset="-120"/>
              </a:rPr>
              <a:t>01</a:t>
            </a:r>
            <a:endParaRPr lang="en-US" sz="1100" dirty="0"/>
          </a:p>
        </p:txBody>
      </p:sp>
      <p:sp>
        <p:nvSpPr>
          <p:cNvPr id="5" name="Shape 2"/>
          <p:cNvSpPr/>
          <p:nvPr/>
        </p:nvSpPr>
        <p:spPr>
          <a:xfrm>
            <a:off x="661475" y="1354832"/>
            <a:ext cx="6296860" cy="19050"/>
          </a:xfrm>
          <a:prstGeom prst="rect">
            <a:avLst/>
          </a:prstGeom>
          <a:solidFill>
            <a:srgbClr val="5E4CE6"/>
          </a:solidFill>
          <a:ln/>
        </p:spPr>
        <p:txBody>
          <a:bodyPr/>
          <a:lstStyle/>
          <a:p>
            <a:endParaRPr lang="en-IN"/>
          </a:p>
        </p:txBody>
      </p:sp>
      <p:sp>
        <p:nvSpPr>
          <p:cNvPr id="6" name="Text 3"/>
          <p:cNvSpPr/>
          <p:nvPr/>
        </p:nvSpPr>
        <p:spPr>
          <a:xfrm>
            <a:off x="661475" y="1463973"/>
            <a:ext cx="6296860" cy="222052"/>
          </a:xfrm>
          <a:prstGeom prst="rect">
            <a:avLst/>
          </a:prstGeom>
          <a:noFill/>
          <a:ln/>
        </p:spPr>
        <p:txBody>
          <a:bodyPr wrap="none" lIns="0" tIns="0" rIns="0" bIns="0" rtlCol="0" anchor="t"/>
          <a:lstStyle/>
          <a:p>
            <a:pPr marL="0" indent="0" algn="l">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Feature-based transaction analysis</a:t>
            </a:r>
            <a:endParaRPr lang="en-US" sz="1350" dirty="0"/>
          </a:p>
        </p:txBody>
      </p:sp>
      <p:sp>
        <p:nvSpPr>
          <p:cNvPr id="7" name="Text 4"/>
          <p:cNvSpPr/>
          <p:nvPr/>
        </p:nvSpPr>
        <p:spPr>
          <a:xfrm>
            <a:off x="661475" y="1759248"/>
            <a:ext cx="6296860" cy="211435"/>
          </a:xfrm>
          <a:prstGeom prst="rect">
            <a:avLst/>
          </a:prstGeom>
          <a:noFill/>
          <a:ln/>
        </p:spPr>
        <p:txBody>
          <a:bodyPr wrap="none" lIns="0" tIns="0" rIns="0" bIns="0" rtlCol="0" anchor="t"/>
          <a:lstStyle/>
          <a:p>
            <a:pPr marL="0" indent="0" algn="l">
              <a:lnSpc>
                <a:spcPct val="124000"/>
              </a:lnSpc>
              <a:buNone/>
            </a:pPr>
            <a:r>
              <a:rPr lang="en-US" sz="1100" dirty="0">
                <a:solidFill>
                  <a:srgbClr val="2A2742"/>
                </a:solidFill>
                <a:latin typeface="Arimo" pitchFamily="34" charset="0"/>
                <a:ea typeface="Arimo" pitchFamily="34" charset="-122"/>
                <a:cs typeface="Arimo" pitchFamily="34" charset="-120"/>
              </a:rPr>
              <a:t>Engineered features from transactions, KYC, merchant and chargeback signals to represent risk.</a:t>
            </a:r>
            <a:endParaRPr lang="en-US" sz="1100" dirty="0"/>
          </a:p>
        </p:txBody>
      </p:sp>
      <p:sp>
        <p:nvSpPr>
          <p:cNvPr id="8" name="Text 5"/>
          <p:cNvSpPr/>
          <p:nvPr/>
        </p:nvSpPr>
        <p:spPr>
          <a:xfrm>
            <a:off x="661475" y="2199382"/>
            <a:ext cx="284255" cy="177602"/>
          </a:xfrm>
          <a:prstGeom prst="rect">
            <a:avLst/>
          </a:prstGeom>
          <a:noFill/>
          <a:ln/>
        </p:spPr>
        <p:txBody>
          <a:bodyPr wrap="none" lIns="0" tIns="0" rIns="0" bIns="0" rtlCol="0" anchor="ctr"/>
          <a:lstStyle/>
          <a:p>
            <a:pPr marL="0" indent="0" algn="l">
              <a:lnSpc>
                <a:spcPct val="100000"/>
              </a:lnSpc>
              <a:buNone/>
            </a:pPr>
            <a:r>
              <a:rPr lang="en-US" sz="1100" dirty="0">
                <a:solidFill>
                  <a:srgbClr val="2A2742"/>
                </a:solidFill>
                <a:latin typeface="Outfit Light" pitchFamily="34" charset="0"/>
                <a:ea typeface="Outfit Light" pitchFamily="34" charset="-122"/>
                <a:cs typeface="Outfit Light" pitchFamily="34" charset="-120"/>
              </a:rPr>
              <a:t>02</a:t>
            </a:r>
            <a:endParaRPr lang="en-US" sz="1100" dirty="0"/>
          </a:p>
        </p:txBody>
      </p:sp>
      <p:sp>
        <p:nvSpPr>
          <p:cNvPr id="9" name="Shape 6"/>
          <p:cNvSpPr/>
          <p:nvPr/>
        </p:nvSpPr>
        <p:spPr>
          <a:xfrm>
            <a:off x="661475" y="2421830"/>
            <a:ext cx="6296860" cy="19050"/>
          </a:xfrm>
          <a:prstGeom prst="rect">
            <a:avLst/>
          </a:prstGeom>
          <a:solidFill>
            <a:srgbClr val="5E4CE6"/>
          </a:solidFill>
          <a:ln/>
        </p:spPr>
        <p:txBody>
          <a:bodyPr/>
          <a:lstStyle/>
          <a:p>
            <a:endParaRPr lang="en-IN"/>
          </a:p>
        </p:txBody>
      </p:sp>
      <p:sp>
        <p:nvSpPr>
          <p:cNvPr id="10" name="Text 7"/>
          <p:cNvSpPr/>
          <p:nvPr/>
        </p:nvSpPr>
        <p:spPr>
          <a:xfrm>
            <a:off x="661475" y="2530971"/>
            <a:ext cx="6296860" cy="222052"/>
          </a:xfrm>
          <a:prstGeom prst="rect">
            <a:avLst/>
          </a:prstGeom>
          <a:noFill/>
          <a:ln/>
        </p:spPr>
        <p:txBody>
          <a:bodyPr wrap="none" lIns="0" tIns="0" rIns="0" bIns="0" rtlCol="0" anchor="t"/>
          <a:lstStyle/>
          <a:p>
            <a:pPr marL="0" indent="0" algn="l">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Suspicious behavior detection</a:t>
            </a:r>
            <a:endParaRPr lang="en-US" sz="1350" dirty="0"/>
          </a:p>
        </p:txBody>
      </p:sp>
      <p:sp>
        <p:nvSpPr>
          <p:cNvPr id="11" name="Text 8"/>
          <p:cNvSpPr/>
          <p:nvPr/>
        </p:nvSpPr>
        <p:spPr>
          <a:xfrm>
            <a:off x="661475" y="2826246"/>
            <a:ext cx="6296860" cy="211435"/>
          </a:xfrm>
          <a:prstGeom prst="rect">
            <a:avLst/>
          </a:prstGeom>
          <a:noFill/>
          <a:ln/>
        </p:spPr>
        <p:txBody>
          <a:bodyPr wrap="none" lIns="0" tIns="0" rIns="0" bIns="0" rtlCol="0" anchor="t"/>
          <a:lstStyle/>
          <a:p>
            <a:pPr marL="0" indent="0" algn="l">
              <a:lnSpc>
                <a:spcPct val="124000"/>
              </a:lnSpc>
              <a:buNone/>
            </a:pPr>
            <a:r>
              <a:rPr lang="en-US" sz="1100" dirty="0">
                <a:solidFill>
                  <a:srgbClr val="2A2742"/>
                </a:solidFill>
                <a:latin typeface="Arimo" pitchFamily="34" charset="0"/>
                <a:ea typeface="Arimo" pitchFamily="34" charset="-122"/>
                <a:cs typeface="Arimo" pitchFamily="34" charset="-120"/>
              </a:rPr>
              <a:t>Patterns and outliers identified using supervised and unsupervised approaches where applicable.</a:t>
            </a:r>
            <a:endParaRPr lang="en-US" sz="1100" dirty="0"/>
          </a:p>
        </p:txBody>
      </p:sp>
      <p:sp>
        <p:nvSpPr>
          <p:cNvPr id="12" name="Text 9"/>
          <p:cNvSpPr/>
          <p:nvPr/>
        </p:nvSpPr>
        <p:spPr>
          <a:xfrm>
            <a:off x="661475" y="3266380"/>
            <a:ext cx="284255" cy="177602"/>
          </a:xfrm>
          <a:prstGeom prst="rect">
            <a:avLst/>
          </a:prstGeom>
          <a:noFill/>
          <a:ln/>
        </p:spPr>
        <p:txBody>
          <a:bodyPr wrap="none" lIns="0" tIns="0" rIns="0" bIns="0" rtlCol="0" anchor="ctr"/>
          <a:lstStyle/>
          <a:p>
            <a:pPr marL="0" indent="0" algn="l">
              <a:lnSpc>
                <a:spcPct val="100000"/>
              </a:lnSpc>
              <a:buNone/>
            </a:pPr>
            <a:r>
              <a:rPr lang="en-US" sz="1100" dirty="0">
                <a:solidFill>
                  <a:srgbClr val="2A2742"/>
                </a:solidFill>
                <a:latin typeface="Outfit Light" pitchFamily="34" charset="0"/>
                <a:ea typeface="Outfit Light" pitchFamily="34" charset="-122"/>
                <a:cs typeface="Outfit Light" pitchFamily="34" charset="-120"/>
              </a:rPr>
              <a:t>03</a:t>
            </a:r>
            <a:endParaRPr lang="en-US" sz="1100" dirty="0"/>
          </a:p>
        </p:txBody>
      </p:sp>
      <p:sp>
        <p:nvSpPr>
          <p:cNvPr id="13" name="Shape 10"/>
          <p:cNvSpPr/>
          <p:nvPr/>
        </p:nvSpPr>
        <p:spPr>
          <a:xfrm>
            <a:off x="661475" y="3488829"/>
            <a:ext cx="6296860" cy="19050"/>
          </a:xfrm>
          <a:prstGeom prst="rect">
            <a:avLst/>
          </a:prstGeom>
          <a:solidFill>
            <a:srgbClr val="5E4CE6"/>
          </a:solidFill>
          <a:ln/>
        </p:spPr>
        <p:txBody>
          <a:bodyPr/>
          <a:lstStyle/>
          <a:p>
            <a:endParaRPr lang="en-IN"/>
          </a:p>
        </p:txBody>
      </p:sp>
      <p:sp>
        <p:nvSpPr>
          <p:cNvPr id="14" name="Text 11"/>
          <p:cNvSpPr/>
          <p:nvPr/>
        </p:nvSpPr>
        <p:spPr>
          <a:xfrm>
            <a:off x="661475" y="3597970"/>
            <a:ext cx="6296860" cy="222052"/>
          </a:xfrm>
          <a:prstGeom prst="rect">
            <a:avLst/>
          </a:prstGeom>
          <a:noFill/>
          <a:ln/>
        </p:spPr>
        <p:txBody>
          <a:bodyPr wrap="none" lIns="0" tIns="0" rIns="0" bIns="0" rtlCol="0" anchor="t"/>
          <a:lstStyle/>
          <a:p>
            <a:pPr marL="0" indent="0" algn="l">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Risk scoring &amp; classification</a:t>
            </a:r>
            <a:endParaRPr lang="en-US" sz="1350" dirty="0"/>
          </a:p>
        </p:txBody>
      </p:sp>
      <p:sp>
        <p:nvSpPr>
          <p:cNvPr id="15" name="Text 12"/>
          <p:cNvSpPr/>
          <p:nvPr/>
        </p:nvSpPr>
        <p:spPr>
          <a:xfrm>
            <a:off x="661475" y="3893245"/>
            <a:ext cx="6296860" cy="211435"/>
          </a:xfrm>
          <a:prstGeom prst="rect">
            <a:avLst/>
          </a:prstGeom>
          <a:noFill/>
          <a:ln/>
        </p:spPr>
        <p:txBody>
          <a:bodyPr wrap="none" lIns="0" tIns="0" rIns="0" bIns="0" rtlCol="0" anchor="t"/>
          <a:lstStyle/>
          <a:p>
            <a:pPr marL="0" indent="0" algn="l">
              <a:lnSpc>
                <a:spcPct val="124000"/>
              </a:lnSpc>
              <a:buNone/>
            </a:pPr>
            <a:r>
              <a:rPr lang="en-US" sz="1100" dirty="0">
                <a:solidFill>
                  <a:srgbClr val="2A2742"/>
                </a:solidFill>
                <a:latin typeface="Arimo" pitchFamily="34" charset="0"/>
                <a:ea typeface="Arimo" pitchFamily="34" charset="-122"/>
                <a:cs typeface="Arimo" pitchFamily="34" charset="-120"/>
              </a:rPr>
              <a:t>Transactions receive risk scores or class labels used for prioritization.</a:t>
            </a:r>
            <a:endParaRPr lang="en-US" sz="1100" dirty="0"/>
          </a:p>
        </p:txBody>
      </p:sp>
      <p:sp>
        <p:nvSpPr>
          <p:cNvPr id="16" name="Text 13"/>
          <p:cNvSpPr/>
          <p:nvPr/>
        </p:nvSpPr>
        <p:spPr>
          <a:xfrm>
            <a:off x="661475" y="4333379"/>
            <a:ext cx="284255" cy="177602"/>
          </a:xfrm>
          <a:prstGeom prst="rect">
            <a:avLst/>
          </a:prstGeom>
          <a:noFill/>
          <a:ln/>
        </p:spPr>
        <p:txBody>
          <a:bodyPr wrap="none" lIns="0" tIns="0" rIns="0" bIns="0" rtlCol="0" anchor="ctr"/>
          <a:lstStyle/>
          <a:p>
            <a:pPr marL="0" indent="0" algn="l">
              <a:lnSpc>
                <a:spcPct val="100000"/>
              </a:lnSpc>
              <a:buNone/>
            </a:pPr>
            <a:r>
              <a:rPr lang="en-US" sz="1100" dirty="0">
                <a:solidFill>
                  <a:srgbClr val="2A2742"/>
                </a:solidFill>
                <a:latin typeface="Outfit Light" pitchFamily="34" charset="0"/>
                <a:ea typeface="Outfit Light" pitchFamily="34" charset="-122"/>
                <a:cs typeface="Outfit Light" pitchFamily="34" charset="-120"/>
              </a:rPr>
              <a:t>04</a:t>
            </a:r>
            <a:endParaRPr lang="en-US" sz="1100" dirty="0"/>
          </a:p>
        </p:txBody>
      </p:sp>
      <p:sp>
        <p:nvSpPr>
          <p:cNvPr id="17" name="Shape 14"/>
          <p:cNvSpPr/>
          <p:nvPr/>
        </p:nvSpPr>
        <p:spPr>
          <a:xfrm>
            <a:off x="661475" y="4555827"/>
            <a:ext cx="6296860" cy="19050"/>
          </a:xfrm>
          <a:prstGeom prst="rect">
            <a:avLst/>
          </a:prstGeom>
          <a:solidFill>
            <a:srgbClr val="5E4CE6"/>
          </a:solidFill>
          <a:ln/>
        </p:spPr>
        <p:txBody>
          <a:bodyPr/>
          <a:lstStyle/>
          <a:p>
            <a:endParaRPr lang="en-IN"/>
          </a:p>
        </p:txBody>
      </p:sp>
      <p:sp>
        <p:nvSpPr>
          <p:cNvPr id="18" name="Text 15"/>
          <p:cNvSpPr/>
          <p:nvPr/>
        </p:nvSpPr>
        <p:spPr>
          <a:xfrm>
            <a:off x="661475" y="4664968"/>
            <a:ext cx="6296860" cy="222052"/>
          </a:xfrm>
          <a:prstGeom prst="rect">
            <a:avLst/>
          </a:prstGeom>
          <a:noFill/>
          <a:ln/>
        </p:spPr>
        <p:txBody>
          <a:bodyPr wrap="none" lIns="0" tIns="0" rIns="0" bIns="0" rtlCol="0" anchor="t"/>
          <a:lstStyle/>
          <a:p>
            <a:pPr marL="0" indent="0" algn="l">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Model prediction &amp; evaluation</a:t>
            </a:r>
            <a:endParaRPr lang="en-US" sz="1350" dirty="0"/>
          </a:p>
        </p:txBody>
      </p:sp>
      <p:sp>
        <p:nvSpPr>
          <p:cNvPr id="19" name="Text 16"/>
          <p:cNvSpPr/>
          <p:nvPr/>
        </p:nvSpPr>
        <p:spPr>
          <a:xfrm>
            <a:off x="661475" y="4960243"/>
            <a:ext cx="6296860"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2A2742"/>
                </a:solidFill>
                <a:latin typeface="Arimo" pitchFamily="34" charset="0"/>
                <a:ea typeface="Arimo" pitchFamily="34" charset="-122"/>
                <a:cs typeface="Arimo" pitchFamily="34" charset="-120"/>
              </a:rPr>
              <a:t>Model outputs feed investigations. Represented as “Model evaluation metrics” (no fabricated numbers).</a:t>
            </a:r>
            <a:endParaRPr lang="en-US" sz="1100" dirty="0"/>
          </a:p>
        </p:txBody>
      </p:sp>
      <p:sp>
        <p:nvSpPr>
          <p:cNvPr id="20" name="Shape 17"/>
          <p:cNvSpPr/>
          <p:nvPr/>
        </p:nvSpPr>
        <p:spPr>
          <a:xfrm>
            <a:off x="661475" y="5626993"/>
            <a:ext cx="6296860" cy="725884"/>
          </a:xfrm>
          <a:prstGeom prst="roundRect">
            <a:avLst>
              <a:gd name="adj" fmla="val 8224"/>
            </a:avLst>
          </a:prstGeom>
          <a:solidFill>
            <a:srgbClr val="D7D2F9"/>
          </a:solidFill>
          <a:ln/>
        </p:spPr>
        <p:txBody>
          <a:bodyPr/>
          <a:lstStyle/>
          <a:p>
            <a:endParaRPr lang="en-IN"/>
          </a:p>
        </p:txBody>
      </p:sp>
      <p:pic>
        <p:nvPicPr>
          <p:cNvPr id="21" name="Image 1" descr="preencoded.png"/>
          <p:cNvPicPr>
            <a:picLocks noChangeAspect="1"/>
          </p:cNvPicPr>
          <p:nvPr/>
        </p:nvPicPr>
        <p:blipFill>
          <a:blip r:embed="rId4"/>
          <a:stretch>
            <a:fillRect/>
          </a:stretch>
        </p:blipFill>
        <p:spPr>
          <a:xfrm>
            <a:off x="803553" y="5806380"/>
            <a:ext cx="177597" cy="142081"/>
          </a:xfrm>
          <a:prstGeom prst="rect">
            <a:avLst/>
          </a:prstGeom>
        </p:spPr>
      </p:pic>
      <p:sp>
        <p:nvSpPr>
          <p:cNvPr id="22" name="Text 18"/>
          <p:cNvSpPr/>
          <p:nvPr/>
        </p:nvSpPr>
        <p:spPr>
          <a:xfrm>
            <a:off x="1123227" y="5784652"/>
            <a:ext cx="5693029"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Arimo" pitchFamily="34" charset="0"/>
                <a:ea typeface="Arimo" pitchFamily="34" charset="-122"/>
                <a:cs typeface="Arimo" pitchFamily="34" charset="-120"/>
              </a:rPr>
              <a:t> Use domain signals (chargebacks, merchant patterns, KYC flags) to improve detection and reduce false positives.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73695"/>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Fraud Investigation Flow</a:t>
            </a:r>
            <a:endParaRPr lang="en-US" sz="3250" dirty="0"/>
          </a:p>
        </p:txBody>
      </p:sp>
      <p:pic>
        <p:nvPicPr>
          <p:cNvPr id="3" name="Image 0" descr="preencoded.png"/>
          <p:cNvPicPr>
            <a:picLocks noChangeAspect="1"/>
          </p:cNvPicPr>
          <p:nvPr/>
        </p:nvPicPr>
        <p:blipFill>
          <a:blip r:embed="rId3"/>
          <a:stretch>
            <a:fillRect/>
          </a:stretch>
        </p:blipFill>
        <p:spPr>
          <a:xfrm>
            <a:off x="835500" y="1521123"/>
            <a:ext cx="10520595" cy="3947914"/>
          </a:xfrm>
          <a:prstGeom prst="rect">
            <a:avLst/>
          </a:prstGeom>
        </p:spPr>
      </p:pic>
      <p:sp>
        <p:nvSpPr>
          <p:cNvPr id="4" name="Text 1"/>
          <p:cNvSpPr/>
          <p:nvPr/>
        </p:nvSpPr>
        <p:spPr>
          <a:xfrm>
            <a:off x="9336045" y="4510644"/>
            <a:ext cx="1586822" cy="305688"/>
          </a:xfrm>
          <a:prstGeom prst="rect">
            <a:avLst/>
          </a:prstGeom>
          <a:noFill/>
          <a:ln/>
        </p:spPr>
        <p:txBody>
          <a:bodyPr wrap="none" lIns="0" tIns="0" rIns="0" bIns="0" rtlCol="0" anchor="t"/>
          <a:lstStyle/>
          <a:p>
            <a:pPr marL="0" indent="0" algn="ctr">
              <a:lnSpc>
                <a:spcPct val="104000"/>
              </a:lnSpc>
              <a:buNone/>
            </a:pPr>
            <a:r>
              <a:rPr lang="en-US" sz="1900" dirty="0">
                <a:solidFill>
                  <a:srgbClr val="2A2742"/>
                </a:solidFill>
                <a:latin typeface="Outfit ExtraBold" pitchFamily="34" charset="0"/>
                <a:ea typeface="Outfit ExtraBold" pitchFamily="34" charset="-122"/>
                <a:cs typeface="Outfit ExtraBold" pitchFamily="34" charset="-120"/>
              </a:rPr>
              <a:t>Hist Behavior</a:t>
            </a:r>
            <a:endParaRPr lang="en-US" sz="1900" dirty="0"/>
          </a:p>
        </p:txBody>
      </p:sp>
      <p:sp>
        <p:nvSpPr>
          <p:cNvPr id="5" name="Text 2"/>
          <p:cNvSpPr/>
          <p:nvPr/>
        </p:nvSpPr>
        <p:spPr>
          <a:xfrm>
            <a:off x="7336215" y="4357800"/>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2A2742"/>
                </a:solidFill>
                <a:latin typeface="Outfit ExtraBold" pitchFamily="34" charset="0"/>
                <a:ea typeface="Outfit ExtraBold" pitchFamily="34" charset="-122"/>
                <a:cs typeface="Outfit ExtraBold" pitchFamily="34" charset="-120"/>
              </a:rPr>
              <a:t>Merchant Info</a:t>
            </a:r>
            <a:endParaRPr lang="en-US" sz="1900" dirty="0"/>
          </a:p>
        </p:txBody>
      </p:sp>
      <p:sp>
        <p:nvSpPr>
          <p:cNvPr id="6" name="Text 3"/>
          <p:cNvSpPr/>
          <p:nvPr/>
        </p:nvSpPr>
        <p:spPr>
          <a:xfrm>
            <a:off x="5347253" y="4510644"/>
            <a:ext cx="1586822" cy="305688"/>
          </a:xfrm>
          <a:prstGeom prst="rect">
            <a:avLst/>
          </a:prstGeom>
          <a:noFill/>
          <a:ln/>
        </p:spPr>
        <p:txBody>
          <a:bodyPr wrap="none" lIns="0" tIns="0" rIns="0" bIns="0" rtlCol="0" anchor="t"/>
          <a:lstStyle/>
          <a:p>
            <a:pPr marL="0" indent="0" algn="ctr">
              <a:lnSpc>
                <a:spcPct val="104000"/>
              </a:lnSpc>
              <a:buNone/>
            </a:pPr>
            <a:r>
              <a:rPr lang="en-US" sz="1900" dirty="0">
                <a:solidFill>
                  <a:srgbClr val="2A2742"/>
                </a:solidFill>
                <a:latin typeface="Outfit ExtraBold" pitchFamily="34" charset="0"/>
                <a:ea typeface="Outfit ExtraBold" pitchFamily="34" charset="-122"/>
                <a:cs typeface="Outfit ExtraBold" pitchFamily="34" charset="-120"/>
              </a:rPr>
              <a:t>User / KYC</a:t>
            </a:r>
            <a:endParaRPr lang="en-US" sz="1900" dirty="0"/>
          </a:p>
        </p:txBody>
      </p:sp>
      <p:sp>
        <p:nvSpPr>
          <p:cNvPr id="7" name="Text 4"/>
          <p:cNvSpPr/>
          <p:nvPr/>
        </p:nvSpPr>
        <p:spPr>
          <a:xfrm>
            <a:off x="3358291" y="4510644"/>
            <a:ext cx="1586822" cy="305688"/>
          </a:xfrm>
          <a:prstGeom prst="rect">
            <a:avLst/>
          </a:prstGeom>
          <a:noFill/>
          <a:ln/>
        </p:spPr>
        <p:txBody>
          <a:bodyPr wrap="none" lIns="0" tIns="0" rIns="0" bIns="0" rtlCol="0" anchor="t"/>
          <a:lstStyle/>
          <a:p>
            <a:pPr marL="0" indent="0" algn="ctr">
              <a:lnSpc>
                <a:spcPct val="104000"/>
              </a:lnSpc>
              <a:buNone/>
            </a:pPr>
            <a:r>
              <a:rPr lang="en-US" sz="1900" dirty="0">
                <a:solidFill>
                  <a:srgbClr val="2A2742"/>
                </a:solidFill>
                <a:latin typeface="Outfit ExtraBold" pitchFamily="34" charset="0"/>
                <a:ea typeface="Outfit ExtraBold" pitchFamily="34" charset="-122"/>
                <a:cs typeface="Outfit ExtraBold" pitchFamily="34" charset="-120"/>
              </a:rPr>
              <a:t>Txn Details</a:t>
            </a:r>
            <a:endParaRPr lang="en-US" sz="1900" dirty="0"/>
          </a:p>
        </p:txBody>
      </p:sp>
      <p:sp>
        <p:nvSpPr>
          <p:cNvPr id="8" name="Text 5"/>
          <p:cNvSpPr/>
          <p:nvPr/>
        </p:nvSpPr>
        <p:spPr>
          <a:xfrm>
            <a:off x="1325854" y="4357800"/>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2A2742"/>
                </a:solidFill>
                <a:latin typeface="Outfit ExtraBold" pitchFamily="34" charset="0"/>
                <a:ea typeface="Outfit ExtraBold" pitchFamily="34" charset="-122"/>
                <a:cs typeface="Outfit ExtraBold" pitchFamily="34" charset="-120"/>
              </a:rPr>
              <a:t>Suspicious Txn</a:t>
            </a:r>
            <a:endParaRPr lang="en-US" sz="1900" dirty="0"/>
          </a:p>
        </p:txBody>
      </p:sp>
      <p:sp>
        <p:nvSpPr>
          <p:cNvPr id="9" name="Text 6"/>
          <p:cNvSpPr/>
          <p:nvPr/>
        </p:nvSpPr>
        <p:spPr>
          <a:xfrm>
            <a:off x="661475" y="5655072"/>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 Investigators use a combined view: transaction drill-down, linked KYC profile, merchant context, and past chargebacks. This multi-source evidence reduces ambiguity and accelerates decision-making.</a:t>
            </a:r>
            <a:endParaRPr lang="en-US" sz="1300" dirty="0"/>
          </a:p>
        </p:txBody>
      </p:sp>
      <p:pic>
        <p:nvPicPr>
          <p:cNvPr id="11" name="Picture 10">
            <a:extLst>
              <a:ext uri="{FF2B5EF4-FFF2-40B4-BE49-F238E27FC236}">
                <a16:creationId xmlns:a16="http://schemas.microsoft.com/office/drawing/2014/main" id="{01690A2C-00EB-5DF3-2526-5DD7E316B328}"/>
              </a:ext>
            </a:extLst>
          </p:cNvPr>
          <p:cNvPicPr>
            <a:picLocks noChangeAspect="1"/>
          </p:cNvPicPr>
          <p:nvPr/>
        </p:nvPicPr>
        <p:blipFill>
          <a:blip r:embed="rId4"/>
          <a:stretch>
            <a:fillRect/>
          </a:stretch>
        </p:blipFill>
        <p:spPr>
          <a:xfrm>
            <a:off x="9527042" y="6370340"/>
            <a:ext cx="2568163" cy="3962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90736"/>
            <a:ext cx="10868745" cy="476448"/>
          </a:xfrm>
          <a:prstGeom prst="rect">
            <a:avLst/>
          </a:prstGeom>
          <a:noFill/>
          <a:ln/>
        </p:spPr>
        <p:txBody>
          <a:bodyPr wrap="none" lIns="0" tIns="0" rIns="0" bIns="0" rtlCol="0" anchor="t"/>
          <a:lstStyle/>
          <a:p>
            <a:pPr marL="0" indent="0" algn="l">
              <a:lnSpc>
                <a:spcPct val="104000"/>
              </a:lnSpc>
              <a:buNone/>
            </a:pPr>
            <a:r>
              <a:rPr lang="en-US" sz="3000" dirty="0">
                <a:solidFill>
                  <a:srgbClr val="231971"/>
                </a:solidFill>
                <a:latin typeface="Outfit ExtraBold" pitchFamily="34" charset="0"/>
                <a:ea typeface="Outfit ExtraBold" pitchFamily="34" charset="-122"/>
                <a:cs typeface="Outfit ExtraBold" pitchFamily="34" charset="-120"/>
              </a:rPr>
              <a:t>Dashboard &amp; Analytics — Decision Support</a:t>
            </a:r>
            <a:endParaRPr lang="en-US" sz="3000" dirty="0"/>
          </a:p>
        </p:txBody>
      </p:sp>
      <p:pic>
        <p:nvPicPr>
          <p:cNvPr id="3" name="Image 0" descr="preencoded.png"/>
          <p:cNvPicPr>
            <a:picLocks noChangeAspect="1"/>
          </p:cNvPicPr>
          <p:nvPr/>
        </p:nvPicPr>
        <p:blipFill>
          <a:blip r:embed="rId3"/>
          <a:stretch>
            <a:fillRect/>
          </a:stretch>
        </p:blipFill>
        <p:spPr>
          <a:xfrm>
            <a:off x="661475" y="1336080"/>
            <a:ext cx="1272647" cy="1272679"/>
          </a:xfrm>
          <a:prstGeom prst="rect">
            <a:avLst/>
          </a:prstGeom>
        </p:spPr>
      </p:pic>
      <p:sp>
        <p:nvSpPr>
          <p:cNvPr id="4" name="Text 1"/>
          <p:cNvSpPr/>
          <p:nvPr/>
        </p:nvSpPr>
        <p:spPr>
          <a:xfrm>
            <a:off x="661475" y="2784376"/>
            <a:ext cx="2194366" cy="238224"/>
          </a:xfrm>
          <a:prstGeom prst="rect">
            <a:avLst/>
          </a:prstGeom>
          <a:noFill/>
          <a:ln/>
        </p:spPr>
        <p:txBody>
          <a:bodyPr wrap="none" lIns="0" tIns="0" rIns="0" bIns="0" rtlCol="0" anchor="t"/>
          <a:lstStyle/>
          <a:p>
            <a:pPr marL="0" indent="0" algn="l">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Total transactions</a:t>
            </a:r>
            <a:endParaRPr lang="en-US" sz="1500" dirty="0"/>
          </a:p>
        </p:txBody>
      </p:sp>
      <p:sp>
        <p:nvSpPr>
          <p:cNvPr id="5" name="Text 2"/>
          <p:cNvSpPr/>
          <p:nvPr/>
        </p:nvSpPr>
        <p:spPr>
          <a:xfrm>
            <a:off x="661475" y="3163094"/>
            <a:ext cx="2194366"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2A2742"/>
                </a:solidFill>
                <a:latin typeface="Arimo" pitchFamily="34" charset="0"/>
                <a:ea typeface="Arimo" pitchFamily="34" charset="-122"/>
                <a:cs typeface="Arimo" pitchFamily="34" charset="-120"/>
              </a:rPr>
              <a:t>Overview of processed volume and throughput.</a:t>
            </a:r>
            <a:endParaRPr lang="en-US" sz="1200" dirty="0"/>
          </a:p>
        </p:txBody>
      </p:sp>
      <p:pic>
        <p:nvPicPr>
          <p:cNvPr id="6" name="Image 1" descr="preencoded.png"/>
          <p:cNvPicPr>
            <a:picLocks noChangeAspect="1"/>
          </p:cNvPicPr>
          <p:nvPr/>
        </p:nvPicPr>
        <p:blipFill>
          <a:blip r:embed="rId4"/>
          <a:stretch>
            <a:fillRect/>
          </a:stretch>
        </p:blipFill>
        <p:spPr>
          <a:xfrm>
            <a:off x="3031454" y="1336080"/>
            <a:ext cx="1272746" cy="1272778"/>
          </a:xfrm>
          <a:prstGeom prst="rect">
            <a:avLst/>
          </a:prstGeom>
        </p:spPr>
      </p:pic>
      <p:sp>
        <p:nvSpPr>
          <p:cNvPr id="7" name="Text 3"/>
          <p:cNvSpPr/>
          <p:nvPr/>
        </p:nvSpPr>
        <p:spPr>
          <a:xfrm>
            <a:off x="3031454" y="2784475"/>
            <a:ext cx="2194465" cy="238224"/>
          </a:xfrm>
          <a:prstGeom prst="rect">
            <a:avLst/>
          </a:prstGeom>
          <a:noFill/>
          <a:ln/>
        </p:spPr>
        <p:txBody>
          <a:bodyPr wrap="none" lIns="0" tIns="0" rIns="0" bIns="0" rtlCol="0" anchor="t"/>
          <a:lstStyle/>
          <a:p>
            <a:pPr marL="0" indent="0" algn="l">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Merchant risk</a:t>
            </a:r>
            <a:endParaRPr lang="en-US" sz="1500" dirty="0"/>
          </a:p>
        </p:txBody>
      </p:sp>
      <p:sp>
        <p:nvSpPr>
          <p:cNvPr id="8" name="Text 4"/>
          <p:cNvSpPr/>
          <p:nvPr/>
        </p:nvSpPr>
        <p:spPr>
          <a:xfrm>
            <a:off x="3031454" y="3163193"/>
            <a:ext cx="2194465"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2A2742"/>
                </a:solidFill>
                <a:latin typeface="Arimo" pitchFamily="34" charset="0"/>
                <a:ea typeface="Arimo" pitchFamily="34" charset="-122"/>
                <a:cs typeface="Arimo" pitchFamily="34" charset="-120"/>
              </a:rPr>
              <a:t>Heatmap and sortable merchant risk scores for prioritization.</a:t>
            </a:r>
            <a:endParaRPr lang="en-US" sz="1200" dirty="0"/>
          </a:p>
        </p:txBody>
      </p:sp>
      <p:pic>
        <p:nvPicPr>
          <p:cNvPr id="9" name="Image 2" descr="preencoded.png"/>
          <p:cNvPicPr>
            <a:picLocks noChangeAspect="1"/>
          </p:cNvPicPr>
          <p:nvPr/>
        </p:nvPicPr>
        <p:blipFill>
          <a:blip r:embed="rId5"/>
          <a:stretch>
            <a:fillRect/>
          </a:stretch>
        </p:blipFill>
        <p:spPr>
          <a:xfrm>
            <a:off x="5401532" y="1336080"/>
            <a:ext cx="1272746" cy="1272778"/>
          </a:xfrm>
          <a:prstGeom prst="rect">
            <a:avLst/>
          </a:prstGeom>
        </p:spPr>
      </p:pic>
      <p:sp>
        <p:nvSpPr>
          <p:cNvPr id="10" name="Text 5"/>
          <p:cNvSpPr/>
          <p:nvPr/>
        </p:nvSpPr>
        <p:spPr>
          <a:xfrm>
            <a:off x="5401532" y="2784475"/>
            <a:ext cx="2194465" cy="238224"/>
          </a:xfrm>
          <a:prstGeom prst="rect">
            <a:avLst/>
          </a:prstGeom>
          <a:noFill/>
          <a:ln/>
        </p:spPr>
        <p:txBody>
          <a:bodyPr wrap="none" lIns="0" tIns="0" rIns="0" bIns="0" rtlCol="0" anchor="t"/>
          <a:lstStyle/>
          <a:p>
            <a:pPr marL="0" indent="0" algn="l">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Transaction trends</a:t>
            </a:r>
            <a:endParaRPr lang="en-US" sz="1500" dirty="0"/>
          </a:p>
        </p:txBody>
      </p:sp>
      <p:sp>
        <p:nvSpPr>
          <p:cNvPr id="11" name="Text 6"/>
          <p:cNvSpPr/>
          <p:nvPr/>
        </p:nvSpPr>
        <p:spPr>
          <a:xfrm>
            <a:off x="5401532" y="3163193"/>
            <a:ext cx="2194465"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2A2742"/>
                </a:solidFill>
                <a:latin typeface="Arimo" pitchFamily="34" charset="0"/>
                <a:ea typeface="Arimo" pitchFamily="34" charset="-122"/>
                <a:cs typeface="Arimo" pitchFamily="34" charset="-120"/>
              </a:rPr>
              <a:t>Temporal views for spikes, trends, and seasonality.</a:t>
            </a:r>
            <a:endParaRPr lang="en-US" sz="1200" dirty="0"/>
          </a:p>
        </p:txBody>
      </p:sp>
      <p:pic>
        <p:nvPicPr>
          <p:cNvPr id="12" name="Image 3" descr="preencoded.png"/>
          <p:cNvPicPr>
            <a:picLocks noChangeAspect="1"/>
          </p:cNvPicPr>
          <p:nvPr/>
        </p:nvPicPr>
        <p:blipFill>
          <a:blip r:embed="rId6"/>
          <a:stretch>
            <a:fillRect/>
          </a:stretch>
        </p:blipFill>
        <p:spPr>
          <a:xfrm>
            <a:off x="661475" y="3913188"/>
            <a:ext cx="1272647" cy="1272679"/>
          </a:xfrm>
          <a:prstGeom prst="rect">
            <a:avLst/>
          </a:prstGeom>
        </p:spPr>
      </p:pic>
      <p:sp>
        <p:nvSpPr>
          <p:cNvPr id="13" name="Text 7"/>
          <p:cNvSpPr/>
          <p:nvPr/>
        </p:nvSpPr>
        <p:spPr>
          <a:xfrm>
            <a:off x="661475" y="5361484"/>
            <a:ext cx="2194366" cy="238224"/>
          </a:xfrm>
          <a:prstGeom prst="rect">
            <a:avLst/>
          </a:prstGeom>
          <a:noFill/>
          <a:ln/>
        </p:spPr>
        <p:txBody>
          <a:bodyPr wrap="none" lIns="0" tIns="0" rIns="0" bIns="0" rtlCol="0" anchor="t"/>
          <a:lstStyle/>
          <a:p>
            <a:pPr marL="0" indent="0" algn="l">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Interactive filters</a:t>
            </a:r>
            <a:endParaRPr lang="en-US" sz="1500" dirty="0"/>
          </a:p>
        </p:txBody>
      </p:sp>
      <p:sp>
        <p:nvSpPr>
          <p:cNvPr id="14" name="Text 8"/>
          <p:cNvSpPr/>
          <p:nvPr/>
        </p:nvSpPr>
        <p:spPr>
          <a:xfrm>
            <a:off x="661475" y="5740202"/>
            <a:ext cx="2194366"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2A2742"/>
                </a:solidFill>
                <a:latin typeface="Arimo" pitchFamily="34" charset="0"/>
                <a:ea typeface="Arimo" pitchFamily="34" charset="-122"/>
                <a:cs typeface="Arimo" pitchFamily="34" charset="-120"/>
              </a:rPr>
              <a:t>Filter by date, merchant, risk score, KYC flags, geography.</a:t>
            </a:r>
            <a:endParaRPr lang="en-US" sz="1200" dirty="0"/>
          </a:p>
        </p:txBody>
      </p:sp>
      <p:sp>
        <p:nvSpPr>
          <p:cNvPr id="15" name="Text 9"/>
          <p:cNvSpPr/>
          <p:nvPr/>
        </p:nvSpPr>
        <p:spPr>
          <a:xfrm>
            <a:off x="7974210" y="1318518"/>
            <a:ext cx="3562261" cy="238224"/>
          </a:xfrm>
          <a:prstGeom prst="rect">
            <a:avLst/>
          </a:prstGeom>
          <a:noFill/>
          <a:ln/>
        </p:spPr>
        <p:txBody>
          <a:bodyPr wrap="none" lIns="0" tIns="0" rIns="0" bIns="0" rtlCol="0" anchor="t"/>
          <a:lstStyle/>
          <a:p>
            <a:pPr marL="0" indent="0" algn="l">
              <a:lnSpc>
                <a:spcPct val="104000"/>
              </a:lnSpc>
              <a:buNone/>
            </a:pPr>
            <a:r>
              <a:rPr lang="en-US" sz="1500" dirty="0">
                <a:solidFill>
                  <a:srgbClr val="231971"/>
                </a:solidFill>
                <a:latin typeface="Outfit ExtraBold" pitchFamily="34" charset="0"/>
                <a:ea typeface="Outfit ExtraBold" pitchFamily="34" charset="-122"/>
                <a:cs typeface="Outfit ExtraBold" pitchFamily="34" charset="-120"/>
              </a:rPr>
              <a:t>Investigation Interface</a:t>
            </a:r>
            <a:endParaRPr lang="en-US" sz="1500" dirty="0"/>
          </a:p>
        </p:txBody>
      </p:sp>
      <p:sp>
        <p:nvSpPr>
          <p:cNvPr id="16" name="Text 10"/>
          <p:cNvSpPr/>
          <p:nvPr/>
        </p:nvSpPr>
        <p:spPr>
          <a:xfrm>
            <a:off x="7974210" y="1697236"/>
            <a:ext cx="3562261" cy="1554063"/>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2A2742"/>
                </a:solidFill>
                <a:latin typeface="Arimo" pitchFamily="34" charset="0"/>
                <a:ea typeface="Arimo" pitchFamily="34" charset="-122"/>
                <a:cs typeface="Arimo" pitchFamily="34" charset="-120"/>
              </a:rPr>
              <a:t>Case list with priority sorting</a:t>
            </a:r>
            <a:endParaRPr lang="en-US" sz="1200" dirty="0"/>
          </a:p>
          <a:p>
            <a:pPr marL="243840" indent="-243840" algn="l">
              <a:lnSpc>
                <a:spcPct val="128000"/>
              </a:lnSpc>
              <a:buSzPct val="100000"/>
              <a:buChar char="•"/>
            </a:pPr>
            <a:r>
              <a:rPr lang="en-US" sz="1200" dirty="0">
                <a:solidFill>
                  <a:srgbClr val="2A2742"/>
                </a:solidFill>
                <a:latin typeface="Arimo" pitchFamily="34" charset="0"/>
                <a:ea typeface="Arimo" pitchFamily="34" charset="-122"/>
                <a:cs typeface="Arimo" pitchFamily="34" charset="-120"/>
              </a:rPr>
              <a:t>Transaction drill-down with linked KYC &amp; merchant tabs</a:t>
            </a:r>
            <a:endParaRPr lang="en-US" sz="1200" dirty="0"/>
          </a:p>
          <a:p>
            <a:pPr marL="243840" indent="-243840" algn="l">
              <a:lnSpc>
                <a:spcPct val="128000"/>
              </a:lnSpc>
              <a:buSzPct val="100000"/>
              <a:buChar char="•"/>
            </a:pPr>
            <a:r>
              <a:rPr lang="en-US" sz="1200" dirty="0">
                <a:solidFill>
                  <a:srgbClr val="2A2742"/>
                </a:solidFill>
                <a:latin typeface="Arimo" pitchFamily="34" charset="0"/>
                <a:ea typeface="Arimo" pitchFamily="34" charset="-122"/>
                <a:cs typeface="Arimo" pitchFamily="34" charset="-120"/>
              </a:rPr>
              <a:t>Chargeback evidence and historical behavior panels</a:t>
            </a:r>
            <a:endParaRPr lang="en-US" sz="1200" dirty="0"/>
          </a:p>
          <a:p>
            <a:pPr marL="243840" indent="-243840" algn="l">
              <a:lnSpc>
                <a:spcPct val="128000"/>
              </a:lnSpc>
              <a:buSzPct val="100000"/>
              <a:buChar char="•"/>
            </a:pPr>
            <a:r>
              <a:rPr lang="en-US" sz="1200" dirty="0">
                <a:solidFill>
                  <a:srgbClr val="2A2742"/>
                </a:solidFill>
                <a:latin typeface="Arimo" pitchFamily="34" charset="0"/>
                <a:ea typeface="Arimo" pitchFamily="34" charset="-122"/>
                <a:cs typeface="Arimo" pitchFamily="34" charset="-120"/>
              </a:rPr>
              <a:t>Exportable reports and investigator notes</a:t>
            </a:r>
            <a:endParaRPr lang="en-US" sz="1200" dirty="0"/>
          </a:p>
        </p:txBody>
      </p:sp>
      <p:pic>
        <p:nvPicPr>
          <p:cNvPr id="18" name="Picture 17">
            <a:extLst>
              <a:ext uri="{FF2B5EF4-FFF2-40B4-BE49-F238E27FC236}">
                <a16:creationId xmlns:a16="http://schemas.microsoft.com/office/drawing/2014/main" id="{B2F131B8-143D-4698-7EC1-DF5A0475A2D7}"/>
              </a:ext>
            </a:extLst>
          </p:cNvPr>
          <p:cNvPicPr>
            <a:picLocks noChangeAspect="1"/>
          </p:cNvPicPr>
          <p:nvPr/>
        </p:nvPicPr>
        <p:blipFill>
          <a:blip r:embed="rId7"/>
          <a:stretch>
            <a:fillRect/>
          </a:stretch>
        </p:blipFill>
        <p:spPr>
          <a:xfrm>
            <a:off x="9623837" y="6461726"/>
            <a:ext cx="2568163" cy="3962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18927"/>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Key Features</a:t>
            </a:r>
            <a:endParaRPr lang="en-US" sz="3250" dirty="0"/>
          </a:p>
        </p:txBody>
      </p:sp>
      <p:pic>
        <p:nvPicPr>
          <p:cNvPr id="3" name="Image 0" descr="preencoded.png"/>
          <p:cNvPicPr>
            <a:picLocks noChangeAspect="1"/>
          </p:cNvPicPr>
          <p:nvPr/>
        </p:nvPicPr>
        <p:blipFill>
          <a:blip r:embed="rId3"/>
          <a:stretch>
            <a:fillRect/>
          </a:stretch>
        </p:blipFill>
        <p:spPr>
          <a:xfrm>
            <a:off x="661475" y="1466354"/>
            <a:ext cx="1127295" cy="1127323"/>
          </a:xfrm>
          <a:prstGeom prst="rect">
            <a:avLst/>
          </a:prstGeom>
        </p:spPr>
      </p:pic>
      <p:sp>
        <p:nvSpPr>
          <p:cNvPr id="4" name="Text 1"/>
          <p:cNvSpPr/>
          <p:nvPr/>
        </p:nvSpPr>
        <p:spPr>
          <a:xfrm>
            <a:off x="661475" y="2800350"/>
            <a:ext cx="2562161"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Transaction Monitoring</a:t>
            </a:r>
            <a:endParaRPr lang="en-US" sz="1600" dirty="0"/>
          </a:p>
        </p:txBody>
      </p:sp>
      <p:sp>
        <p:nvSpPr>
          <p:cNvPr id="5" name="Text 2"/>
          <p:cNvSpPr/>
          <p:nvPr/>
        </p:nvSpPr>
        <p:spPr>
          <a:xfrm>
            <a:off x="661475" y="3158034"/>
            <a:ext cx="256216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Continuous ingestion and baseline monitoring of UPI flows.</a:t>
            </a:r>
            <a:endParaRPr lang="en-US" sz="1300" dirty="0"/>
          </a:p>
        </p:txBody>
      </p:sp>
      <p:pic>
        <p:nvPicPr>
          <p:cNvPr id="6" name="Image 1" descr="preencoded.png"/>
          <p:cNvPicPr>
            <a:picLocks noChangeAspect="1"/>
          </p:cNvPicPr>
          <p:nvPr/>
        </p:nvPicPr>
        <p:blipFill>
          <a:blip r:embed="rId4"/>
          <a:stretch>
            <a:fillRect/>
          </a:stretch>
        </p:blipFill>
        <p:spPr>
          <a:xfrm>
            <a:off x="3430303" y="1466354"/>
            <a:ext cx="1127295" cy="1127323"/>
          </a:xfrm>
          <a:prstGeom prst="rect">
            <a:avLst/>
          </a:prstGeom>
        </p:spPr>
      </p:pic>
      <p:sp>
        <p:nvSpPr>
          <p:cNvPr id="7" name="Text 3"/>
          <p:cNvSpPr/>
          <p:nvPr/>
        </p:nvSpPr>
        <p:spPr>
          <a:xfrm>
            <a:off x="3430303" y="2800350"/>
            <a:ext cx="2562161"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Fraud Detection</a:t>
            </a:r>
            <a:endParaRPr lang="en-US" sz="1600" dirty="0"/>
          </a:p>
        </p:txBody>
      </p:sp>
      <p:sp>
        <p:nvSpPr>
          <p:cNvPr id="8" name="Text 4"/>
          <p:cNvSpPr/>
          <p:nvPr/>
        </p:nvSpPr>
        <p:spPr>
          <a:xfrm>
            <a:off x="3430303" y="3158034"/>
            <a:ext cx="256216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Automated detection of anomalous and suspicious transactions.</a:t>
            </a:r>
            <a:endParaRPr lang="en-US" sz="1300" dirty="0"/>
          </a:p>
        </p:txBody>
      </p:sp>
      <p:pic>
        <p:nvPicPr>
          <p:cNvPr id="9" name="Image 2" descr="preencoded.png"/>
          <p:cNvPicPr>
            <a:picLocks noChangeAspect="1"/>
          </p:cNvPicPr>
          <p:nvPr/>
        </p:nvPicPr>
        <p:blipFill>
          <a:blip r:embed="rId5"/>
          <a:stretch>
            <a:fillRect/>
          </a:stretch>
        </p:blipFill>
        <p:spPr>
          <a:xfrm>
            <a:off x="6199132" y="1466354"/>
            <a:ext cx="1127295" cy="1127323"/>
          </a:xfrm>
          <a:prstGeom prst="rect">
            <a:avLst/>
          </a:prstGeom>
        </p:spPr>
      </p:pic>
      <p:sp>
        <p:nvSpPr>
          <p:cNvPr id="10" name="Text 5"/>
          <p:cNvSpPr/>
          <p:nvPr/>
        </p:nvSpPr>
        <p:spPr>
          <a:xfrm>
            <a:off x="6199132" y="2800350"/>
            <a:ext cx="2562161"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Risk Analysis</a:t>
            </a:r>
            <a:endParaRPr lang="en-US" sz="1600" dirty="0"/>
          </a:p>
        </p:txBody>
      </p:sp>
      <p:sp>
        <p:nvSpPr>
          <p:cNvPr id="11" name="Text 6"/>
          <p:cNvSpPr/>
          <p:nvPr/>
        </p:nvSpPr>
        <p:spPr>
          <a:xfrm>
            <a:off x="6199132" y="3158034"/>
            <a:ext cx="256216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Risk scoring and prioritization for triage.</a:t>
            </a:r>
            <a:endParaRPr lang="en-US" sz="1300" dirty="0"/>
          </a:p>
        </p:txBody>
      </p:sp>
      <p:pic>
        <p:nvPicPr>
          <p:cNvPr id="12" name="Image 3" descr="preencoded.png"/>
          <p:cNvPicPr>
            <a:picLocks noChangeAspect="1"/>
          </p:cNvPicPr>
          <p:nvPr/>
        </p:nvPicPr>
        <p:blipFill>
          <a:blip r:embed="rId6"/>
          <a:stretch>
            <a:fillRect/>
          </a:stretch>
        </p:blipFill>
        <p:spPr>
          <a:xfrm>
            <a:off x="8967960" y="1466354"/>
            <a:ext cx="1127394" cy="1127423"/>
          </a:xfrm>
          <a:prstGeom prst="rect">
            <a:avLst/>
          </a:prstGeom>
        </p:spPr>
      </p:pic>
      <p:sp>
        <p:nvSpPr>
          <p:cNvPr id="13" name="Text 7"/>
          <p:cNvSpPr/>
          <p:nvPr/>
        </p:nvSpPr>
        <p:spPr>
          <a:xfrm>
            <a:off x="8967960" y="2800449"/>
            <a:ext cx="2562260"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Merchant Analysis</a:t>
            </a:r>
            <a:endParaRPr lang="en-US" sz="1600" dirty="0"/>
          </a:p>
        </p:txBody>
      </p:sp>
      <p:sp>
        <p:nvSpPr>
          <p:cNvPr id="14" name="Text 8"/>
          <p:cNvSpPr/>
          <p:nvPr/>
        </p:nvSpPr>
        <p:spPr>
          <a:xfrm>
            <a:off x="8967960" y="3158133"/>
            <a:ext cx="25622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Merchant-level risk profiling and historical patterns.</a:t>
            </a:r>
            <a:endParaRPr lang="en-US" sz="1300" dirty="0"/>
          </a:p>
        </p:txBody>
      </p:sp>
      <p:pic>
        <p:nvPicPr>
          <p:cNvPr id="15" name="Image 4" descr="preencoded.png"/>
          <p:cNvPicPr>
            <a:picLocks noChangeAspect="1"/>
          </p:cNvPicPr>
          <p:nvPr/>
        </p:nvPicPr>
        <p:blipFill>
          <a:blip r:embed="rId7"/>
          <a:stretch>
            <a:fillRect/>
          </a:stretch>
        </p:blipFill>
        <p:spPr>
          <a:xfrm>
            <a:off x="661475" y="4018062"/>
            <a:ext cx="1127295" cy="1127323"/>
          </a:xfrm>
          <a:prstGeom prst="rect">
            <a:avLst/>
          </a:prstGeom>
        </p:spPr>
      </p:pic>
      <p:sp>
        <p:nvSpPr>
          <p:cNvPr id="16" name="Text 9"/>
          <p:cNvSpPr/>
          <p:nvPr/>
        </p:nvSpPr>
        <p:spPr>
          <a:xfrm>
            <a:off x="661475" y="5352058"/>
            <a:ext cx="2562161"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KYC Analysis</a:t>
            </a:r>
            <a:endParaRPr lang="en-US" sz="1600" dirty="0"/>
          </a:p>
        </p:txBody>
      </p:sp>
      <p:sp>
        <p:nvSpPr>
          <p:cNvPr id="17" name="Text 10"/>
          <p:cNvSpPr/>
          <p:nvPr/>
        </p:nvSpPr>
        <p:spPr>
          <a:xfrm>
            <a:off x="661475" y="5709741"/>
            <a:ext cx="256216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Linking transaction behavior to verified identity records.</a:t>
            </a:r>
            <a:endParaRPr lang="en-US" sz="1300" dirty="0"/>
          </a:p>
        </p:txBody>
      </p:sp>
      <p:pic>
        <p:nvPicPr>
          <p:cNvPr id="18" name="Image 5" descr="preencoded.png"/>
          <p:cNvPicPr>
            <a:picLocks noChangeAspect="1"/>
          </p:cNvPicPr>
          <p:nvPr/>
        </p:nvPicPr>
        <p:blipFill>
          <a:blip r:embed="rId8"/>
          <a:stretch>
            <a:fillRect/>
          </a:stretch>
        </p:blipFill>
        <p:spPr>
          <a:xfrm>
            <a:off x="3430303" y="4018062"/>
            <a:ext cx="1127295" cy="1127323"/>
          </a:xfrm>
          <a:prstGeom prst="rect">
            <a:avLst/>
          </a:prstGeom>
        </p:spPr>
      </p:pic>
      <p:sp>
        <p:nvSpPr>
          <p:cNvPr id="19" name="Text 11"/>
          <p:cNvSpPr/>
          <p:nvPr/>
        </p:nvSpPr>
        <p:spPr>
          <a:xfrm>
            <a:off x="3430303" y="5352058"/>
            <a:ext cx="2562161"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Chargeback Analysis</a:t>
            </a:r>
            <a:endParaRPr lang="en-US" sz="1600" dirty="0"/>
          </a:p>
        </p:txBody>
      </p:sp>
      <p:sp>
        <p:nvSpPr>
          <p:cNvPr id="20" name="Text 12"/>
          <p:cNvSpPr/>
          <p:nvPr/>
        </p:nvSpPr>
        <p:spPr>
          <a:xfrm>
            <a:off x="3430303" y="5709741"/>
            <a:ext cx="256216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Use chargeback history as confirmed fraud signals and labels.</a:t>
            </a:r>
            <a:endParaRPr lang="en-US" sz="1300" dirty="0"/>
          </a:p>
        </p:txBody>
      </p:sp>
      <p:pic>
        <p:nvPicPr>
          <p:cNvPr id="21" name="Image 6" descr="preencoded.png"/>
          <p:cNvPicPr>
            <a:picLocks noChangeAspect="1"/>
          </p:cNvPicPr>
          <p:nvPr/>
        </p:nvPicPr>
        <p:blipFill>
          <a:blip r:embed="rId9"/>
          <a:stretch>
            <a:fillRect/>
          </a:stretch>
        </p:blipFill>
        <p:spPr>
          <a:xfrm>
            <a:off x="6199132" y="4018062"/>
            <a:ext cx="1127295" cy="1127323"/>
          </a:xfrm>
          <a:prstGeom prst="rect">
            <a:avLst/>
          </a:prstGeom>
        </p:spPr>
      </p:pic>
      <p:sp>
        <p:nvSpPr>
          <p:cNvPr id="22" name="Text 13"/>
          <p:cNvSpPr/>
          <p:nvPr/>
        </p:nvSpPr>
        <p:spPr>
          <a:xfrm>
            <a:off x="6199132" y="5352058"/>
            <a:ext cx="2562161"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Interactive Dashboard</a:t>
            </a:r>
            <a:endParaRPr lang="en-US" sz="1600" dirty="0"/>
          </a:p>
        </p:txBody>
      </p:sp>
      <p:sp>
        <p:nvSpPr>
          <p:cNvPr id="23" name="Text 14"/>
          <p:cNvSpPr/>
          <p:nvPr/>
        </p:nvSpPr>
        <p:spPr>
          <a:xfrm>
            <a:off x="6199132" y="5709741"/>
            <a:ext cx="256216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Exploration, filtering, and investigator workflows in one UI.</a:t>
            </a:r>
            <a:endParaRPr lang="en-US" sz="1300" dirty="0"/>
          </a:p>
        </p:txBody>
      </p:sp>
      <p:pic>
        <p:nvPicPr>
          <p:cNvPr id="24" name="Image 7" descr="preencoded.png"/>
          <p:cNvPicPr>
            <a:picLocks noChangeAspect="1"/>
          </p:cNvPicPr>
          <p:nvPr/>
        </p:nvPicPr>
        <p:blipFill>
          <a:blip r:embed="rId10"/>
          <a:stretch>
            <a:fillRect/>
          </a:stretch>
        </p:blipFill>
        <p:spPr>
          <a:xfrm>
            <a:off x="8967960" y="4018062"/>
            <a:ext cx="1127394" cy="1127423"/>
          </a:xfrm>
          <a:prstGeom prst="rect">
            <a:avLst/>
          </a:prstGeom>
        </p:spPr>
      </p:pic>
      <p:sp>
        <p:nvSpPr>
          <p:cNvPr id="25" name="Text 15"/>
          <p:cNvSpPr/>
          <p:nvPr/>
        </p:nvSpPr>
        <p:spPr>
          <a:xfrm>
            <a:off x="8967960" y="5352157"/>
            <a:ext cx="2562260"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Fraud Investigation</a:t>
            </a:r>
            <a:endParaRPr lang="en-US" sz="1600" dirty="0"/>
          </a:p>
        </p:txBody>
      </p:sp>
      <p:sp>
        <p:nvSpPr>
          <p:cNvPr id="26" name="Text 16"/>
          <p:cNvSpPr/>
          <p:nvPr/>
        </p:nvSpPr>
        <p:spPr>
          <a:xfrm>
            <a:off x="8967960" y="5709841"/>
            <a:ext cx="25622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Case management, evidence aggregation, and decision logging.</a:t>
            </a:r>
            <a:endParaRPr lang="en-US" sz="1300" dirty="0"/>
          </a:p>
        </p:txBody>
      </p:sp>
      <p:pic>
        <p:nvPicPr>
          <p:cNvPr id="28" name="Picture 27">
            <a:extLst>
              <a:ext uri="{FF2B5EF4-FFF2-40B4-BE49-F238E27FC236}">
                <a16:creationId xmlns:a16="http://schemas.microsoft.com/office/drawing/2014/main" id="{EAEBD44B-30D2-EC00-0D99-0C329AE69132}"/>
              </a:ext>
            </a:extLst>
          </p:cNvPr>
          <p:cNvPicPr>
            <a:picLocks noChangeAspect="1"/>
          </p:cNvPicPr>
          <p:nvPr/>
        </p:nvPicPr>
        <p:blipFill>
          <a:blip r:embed="rId11"/>
          <a:stretch>
            <a:fillRect/>
          </a:stretch>
        </p:blipFill>
        <p:spPr>
          <a:xfrm>
            <a:off x="9531657" y="6461726"/>
            <a:ext cx="2568163" cy="3962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529358"/>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Technology Stack</a:t>
            </a:r>
            <a:endParaRPr lang="en-US" sz="32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376785"/>
            <a:ext cx="413434" cy="413445"/>
          </a:xfrm>
          <a:prstGeom prst="rect">
            <a:avLst/>
          </a:prstGeom>
        </p:spPr>
      </p:pic>
      <p:sp>
        <p:nvSpPr>
          <p:cNvPr id="4" name="Text 1"/>
          <p:cNvSpPr/>
          <p:nvPr/>
        </p:nvSpPr>
        <p:spPr>
          <a:xfrm>
            <a:off x="1281577" y="2376785"/>
            <a:ext cx="2864969"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Programming</a:t>
            </a:r>
            <a:endParaRPr lang="en-US" sz="1600" dirty="0"/>
          </a:p>
        </p:txBody>
      </p:sp>
      <p:sp>
        <p:nvSpPr>
          <p:cNvPr id="5" name="Text 2"/>
          <p:cNvSpPr/>
          <p:nvPr/>
        </p:nvSpPr>
        <p:spPr>
          <a:xfrm>
            <a:off x="1281577" y="2734469"/>
            <a:ext cx="2864969" cy="264616"/>
          </a:xfrm>
          <a:prstGeom prst="rect">
            <a:avLst/>
          </a:prstGeom>
          <a:noFill/>
          <a:ln/>
        </p:spPr>
        <p:txBody>
          <a:bodyPr wrap="none" lIns="0" tIns="0" rIns="0" bIns="0" rtlCol="0" anchor="t"/>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Python</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53213" y="2376785"/>
            <a:ext cx="413434" cy="413445"/>
          </a:xfrm>
          <a:prstGeom prst="rect">
            <a:avLst/>
          </a:prstGeom>
        </p:spPr>
      </p:pic>
      <p:sp>
        <p:nvSpPr>
          <p:cNvPr id="7" name="Text 3"/>
          <p:cNvSpPr/>
          <p:nvPr/>
        </p:nvSpPr>
        <p:spPr>
          <a:xfrm>
            <a:off x="4973315" y="2376785"/>
            <a:ext cx="2865068"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Data &amp; ML</a:t>
            </a:r>
            <a:endParaRPr lang="en-US" sz="1600" dirty="0"/>
          </a:p>
        </p:txBody>
      </p:sp>
      <p:sp>
        <p:nvSpPr>
          <p:cNvPr id="8" name="Text 4"/>
          <p:cNvSpPr/>
          <p:nvPr/>
        </p:nvSpPr>
        <p:spPr>
          <a:xfrm>
            <a:off x="4973315" y="2734469"/>
            <a:ext cx="286506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Pandas · NumPy · Scikit-learn · Machine learning</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5050" y="2376785"/>
            <a:ext cx="413434" cy="413445"/>
          </a:xfrm>
          <a:prstGeom prst="rect">
            <a:avLst/>
          </a:prstGeom>
        </p:spPr>
      </p:pic>
      <p:sp>
        <p:nvSpPr>
          <p:cNvPr id="10" name="Text 5"/>
          <p:cNvSpPr/>
          <p:nvPr/>
        </p:nvSpPr>
        <p:spPr>
          <a:xfrm>
            <a:off x="8665152" y="2376785"/>
            <a:ext cx="2865068"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Application</a:t>
            </a:r>
            <a:endParaRPr lang="en-US" sz="1600" dirty="0"/>
          </a:p>
        </p:txBody>
      </p:sp>
      <p:sp>
        <p:nvSpPr>
          <p:cNvPr id="11" name="Text 6"/>
          <p:cNvSpPr/>
          <p:nvPr/>
        </p:nvSpPr>
        <p:spPr>
          <a:xfrm>
            <a:off x="8665152" y="2734469"/>
            <a:ext cx="286506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Streamlit (interactive dashboard &amp; investigator interface)</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594398"/>
            <a:ext cx="413434" cy="413445"/>
          </a:xfrm>
          <a:prstGeom prst="rect">
            <a:avLst/>
          </a:prstGeom>
        </p:spPr>
      </p:pic>
      <p:sp>
        <p:nvSpPr>
          <p:cNvPr id="13" name="Text 7"/>
          <p:cNvSpPr/>
          <p:nvPr/>
        </p:nvSpPr>
        <p:spPr>
          <a:xfrm>
            <a:off x="1281577" y="3594398"/>
            <a:ext cx="2864969"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Visualization</a:t>
            </a:r>
            <a:endParaRPr lang="en-US" sz="1600" dirty="0"/>
          </a:p>
        </p:txBody>
      </p:sp>
      <p:sp>
        <p:nvSpPr>
          <p:cNvPr id="14" name="Text 8"/>
          <p:cNvSpPr/>
          <p:nvPr/>
        </p:nvSpPr>
        <p:spPr>
          <a:xfrm>
            <a:off x="1281577" y="3952081"/>
            <a:ext cx="286496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Plotly / Matplotlib (visual analysis and charts)</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53213" y="3594398"/>
            <a:ext cx="413434" cy="413445"/>
          </a:xfrm>
          <a:prstGeom prst="rect">
            <a:avLst/>
          </a:prstGeom>
        </p:spPr>
      </p:pic>
      <p:sp>
        <p:nvSpPr>
          <p:cNvPr id="16" name="Text 9"/>
          <p:cNvSpPr/>
          <p:nvPr/>
        </p:nvSpPr>
        <p:spPr>
          <a:xfrm>
            <a:off x="4973315" y="3594398"/>
            <a:ext cx="2865068" cy="258465"/>
          </a:xfrm>
          <a:prstGeom prst="rect">
            <a:avLst/>
          </a:prstGeom>
          <a:noFill/>
          <a:ln/>
        </p:spPr>
        <p:txBody>
          <a:bodyPr wrap="none" lIns="0" tIns="0" rIns="0" bIns="0" rtlCol="0" anchor="t"/>
          <a:lstStyle/>
          <a:p>
            <a:pPr marL="0" indent="0" algn="l">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Development</a:t>
            </a:r>
            <a:endParaRPr lang="en-US" sz="1600" dirty="0"/>
          </a:p>
        </p:txBody>
      </p:sp>
      <p:sp>
        <p:nvSpPr>
          <p:cNvPr id="17" name="Text 10"/>
          <p:cNvSpPr/>
          <p:nvPr/>
        </p:nvSpPr>
        <p:spPr>
          <a:xfrm>
            <a:off x="4973315" y="3952081"/>
            <a:ext cx="2865068" cy="264616"/>
          </a:xfrm>
          <a:prstGeom prst="rect">
            <a:avLst/>
          </a:prstGeom>
          <a:noFill/>
          <a:ln/>
        </p:spPr>
        <p:txBody>
          <a:bodyPr wrap="none" lIns="0" tIns="0" rIns="0" bIns="0" rtlCol="0" anchor="t"/>
          <a:lstStyle/>
          <a:p>
            <a:pPr marL="0" indent="0" algn="l">
              <a:lnSpc>
                <a:spcPct val="133000"/>
              </a:lnSpc>
              <a:buNone/>
            </a:pPr>
            <a:r>
              <a:rPr lang="en-US" sz="1300" dirty="0">
                <a:solidFill>
                  <a:srgbClr val="2A2742"/>
                </a:solidFill>
                <a:latin typeface="Arimo" pitchFamily="34" charset="0"/>
                <a:ea typeface="Arimo" pitchFamily="34" charset="-122"/>
                <a:cs typeface="Arimo" pitchFamily="34" charset="-120"/>
              </a:rPr>
              <a:t>Git · GitHub</a:t>
            </a:r>
            <a:endParaRPr lang="en-US" sz="1300" dirty="0"/>
          </a:p>
        </p:txBody>
      </p:sp>
      <p:sp>
        <p:nvSpPr>
          <p:cNvPr id="18" name="Shape 11"/>
          <p:cNvSpPr/>
          <p:nvPr/>
        </p:nvSpPr>
        <p:spPr>
          <a:xfrm>
            <a:off x="661475" y="4667349"/>
            <a:ext cx="10868745" cy="661293"/>
          </a:xfrm>
          <a:prstGeom prst="roundRect">
            <a:avLst>
              <a:gd name="adj" fmla="val 10504"/>
            </a:avLst>
          </a:prstGeom>
          <a:solidFill>
            <a:srgbClr val="D7D2F9"/>
          </a:solidFill>
          <a:ln/>
        </p:spPr>
        <p:txBody>
          <a:bodyPr/>
          <a:lstStyle/>
          <a:p>
            <a:endParaRPr lang="en-IN"/>
          </a:p>
        </p:txBody>
      </p:sp>
      <p:pic>
        <p:nvPicPr>
          <p:cNvPr id="19" name="Image 5" descr="preencoded.png"/>
          <p:cNvPicPr>
            <a:picLocks noChangeAspect="1"/>
          </p:cNvPicPr>
          <p:nvPr/>
        </p:nvPicPr>
        <p:blipFill>
          <a:blip r:embed="rId8"/>
          <a:stretch>
            <a:fillRect/>
          </a:stretch>
        </p:blipFill>
        <p:spPr>
          <a:xfrm>
            <a:off x="826769" y="4907062"/>
            <a:ext cx="206667" cy="165298"/>
          </a:xfrm>
          <a:prstGeom prst="rect">
            <a:avLst/>
          </a:prstGeom>
        </p:spPr>
      </p:pic>
      <p:sp>
        <p:nvSpPr>
          <p:cNvPr id="20" name="Text 12"/>
          <p:cNvSpPr/>
          <p:nvPr/>
        </p:nvSpPr>
        <p:spPr>
          <a:xfrm>
            <a:off x="1198731" y="4873923"/>
            <a:ext cx="1077578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Arimo" pitchFamily="34" charset="0"/>
                <a:ea typeface="Arimo" pitchFamily="34" charset="-122"/>
                <a:cs typeface="Arimo" pitchFamily="34" charset="-120"/>
              </a:rPr>
              <a:t> Only technologies actually used in the project are listed above.</a:t>
            </a:r>
            <a:endParaRPr lang="en-US" sz="1300" dirty="0"/>
          </a:p>
        </p:txBody>
      </p:sp>
      <p:pic>
        <p:nvPicPr>
          <p:cNvPr id="22" name="Picture 21">
            <a:extLst>
              <a:ext uri="{FF2B5EF4-FFF2-40B4-BE49-F238E27FC236}">
                <a16:creationId xmlns:a16="http://schemas.microsoft.com/office/drawing/2014/main" id="{87589329-9C49-0522-A6DA-AEEF29866BA0}"/>
              </a:ext>
            </a:extLst>
          </p:cNvPr>
          <p:cNvPicPr>
            <a:picLocks noChangeAspect="1"/>
          </p:cNvPicPr>
          <p:nvPr/>
        </p:nvPicPr>
        <p:blipFill>
          <a:blip r:embed="rId9"/>
          <a:stretch>
            <a:fillRect/>
          </a:stretch>
        </p:blipFill>
        <p:spPr>
          <a:xfrm>
            <a:off x="9623837" y="6471665"/>
            <a:ext cx="2568163" cy="3962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699</Words>
  <Application>Microsoft Office PowerPoint</Application>
  <PresentationFormat>Widescreen</PresentationFormat>
  <Paragraphs>112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Arimo</vt:lpstr>
      <vt:lpstr>Outfit ExtraBold</vt:lpstr>
      <vt:lpstr>Outfit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utkarsh sengar</cp:lastModifiedBy>
  <cp:revision>1</cp:revision>
  <dcterms:created xsi:type="dcterms:W3CDTF">2026-09-16T09:00:10Z</dcterms:created>
  <dcterms:modified xsi:type="dcterms:W3CDTF">2026-09-16T09:01:41Z</dcterms:modified>
</cp:coreProperties>
</file>